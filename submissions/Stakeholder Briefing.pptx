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Inter SemiBold"/>
      <p:regular r:id="rId13"/>
      <p:bold r:id="rId14"/>
      <p:italic r:id="rId15"/>
      <p:boldItalic r:id="rId16"/>
    </p:embeddedFont>
    <p:embeddedFont>
      <p:font typeface="Inter"/>
      <p:bold r:id="rId17"/>
      <p:boldItalic r:id="rId18"/>
    </p:embeddedFont>
    <p:embeddedFont>
      <p:font typeface="Inter ExtraBold"/>
      <p:bold r:id="rId19"/>
      <p:boldItalic r:id="rId20"/>
    </p:embeddedFont>
    <p:embeddedFont>
      <p:font typeface="Inter Medium"/>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ExtraBold-boldItalic.fntdata"/><Relationship Id="rId11" Type="http://schemas.openxmlformats.org/officeDocument/2006/relationships/slide" Target="slides/slide6.xml"/><Relationship Id="rId22" Type="http://schemas.openxmlformats.org/officeDocument/2006/relationships/font" Target="fonts/InterMedium-bold.fntdata"/><Relationship Id="rId10" Type="http://schemas.openxmlformats.org/officeDocument/2006/relationships/slide" Target="slides/slide5.xml"/><Relationship Id="rId21" Type="http://schemas.openxmlformats.org/officeDocument/2006/relationships/font" Target="fonts/InterMedium-regular.fntdata"/><Relationship Id="rId13" Type="http://schemas.openxmlformats.org/officeDocument/2006/relationships/font" Target="fonts/InterSemiBold-regular.fntdata"/><Relationship Id="rId24" Type="http://schemas.openxmlformats.org/officeDocument/2006/relationships/font" Target="fonts/InterMedium-boldItalic.fntdata"/><Relationship Id="rId12" Type="http://schemas.openxmlformats.org/officeDocument/2006/relationships/slide" Target="slides/slide7.xml"/><Relationship Id="rId23" Type="http://schemas.openxmlformats.org/officeDocument/2006/relationships/font" Target="fonts/InterMedium-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SemiBold-italic.fntdata"/><Relationship Id="rId14" Type="http://schemas.openxmlformats.org/officeDocument/2006/relationships/font" Target="fonts/InterSemiBold-bold.fntdata"/><Relationship Id="rId17" Type="http://schemas.openxmlformats.org/officeDocument/2006/relationships/font" Target="fonts/Inter-bold.fntdata"/><Relationship Id="rId16" Type="http://schemas.openxmlformats.org/officeDocument/2006/relationships/font" Target="fonts/InterSemiBold-boldItalic.fntdata"/><Relationship Id="rId5" Type="http://schemas.openxmlformats.org/officeDocument/2006/relationships/notesMaster" Target="notesMasters/notesMaster1.xml"/><Relationship Id="rId19" Type="http://schemas.openxmlformats.org/officeDocument/2006/relationships/font" Target="fonts/InterExtraBold-bold.fntdata"/><Relationship Id="rId6" Type="http://schemas.openxmlformats.org/officeDocument/2006/relationships/slide" Target="slides/slide1.xml"/><Relationship Id="rId18" Type="http://schemas.openxmlformats.org/officeDocument/2006/relationships/font" Target="fonts/Inter-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h4f44bf0c9fa7f06b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h4f44bf0c9fa7f06b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Core proposal is centralising all customer data and </a:t>
            </a:r>
            <a:r>
              <a:rPr lang="en"/>
              <a:t>implementing a new self-service portal allowing customers to take basic account actions and staff to access and log records.</a:t>
            </a:r>
            <a:endParaRPr/>
          </a:p>
          <a:p>
            <a:pPr indent="-298450" lvl="0" marL="457200" rtl="0" algn="l">
              <a:spcBef>
                <a:spcPts val="0"/>
              </a:spcBef>
              <a:spcAft>
                <a:spcPts val="0"/>
              </a:spcAft>
              <a:buSzPts val="1100"/>
              <a:buChar char="●"/>
            </a:pPr>
            <a:r>
              <a:rPr lang="en"/>
              <a:t>The main benefits are:</a:t>
            </a:r>
            <a:endParaRPr/>
          </a:p>
          <a:p>
            <a:pPr indent="-298450" lvl="1" marL="914400" rtl="0" algn="l">
              <a:spcBef>
                <a:spcPts val="0"/>
              </a:spcBef>
              <a:spcAft>
                <a:spcPts val="0"/>
              </a:spcAft>
              <a:buSzPts val="1100"/>
              <a:buChar char="○"/>
            </a:pPr>
            <a:r>
              <a:rPr lang="en"/>
              <a:t>Better audit and compliance visibility.</a:t>
            </a:r>
            <a:endParaRPr/>
          </a:p>
          <a:p>
            <a:pPr indent="-298450" lvl="1" marL="914400" rtl="0" algn="l">
              <a:spcBef>
                <a:spcPts val="0"/>
              </a:spcBef>
              <a:spcAft>
                <a:spcPts val="0"/>
              </a:spcAft>
              <a:buSzPts val="1100"/>
              <a:buChar char="○"/>
            </a:pPr>
            <a:r>
              <a:rPr lang="en"/>
              <a:t>An architecture that can scale with the business.</a:t>
            </a:r>
            <a:endParaRPr/>
          </a:p>
          <a:p>
            <a:pPr indent="-298450" lvl="1" marL="914400" rtl="0" algn="l">
              <a:spcBef>
                <a:spcPts val="0"/>
              </a:spcBef>
              <a:spcAft>
                <a:spcPts val="0"/>
              </a:spcAft>
              <a:buSzPts val="1100"/>
              <a:buChar char="○"/>
            </a:pPr>
            <a:r>
              <a:rPr lang="en"/>
              <a:t>Higher customer satisfaction from frictionless payment experience.</a:t>
            </a:r>
            <a:endParaRPr/>
          </a:p>
          <a:p>
            <a:pPr indent="-298450" lvl="0" marL="457200" rtl="0" algn="l">
              <a:spcBef>
                <a:spcPts val="0"/>
              </a:spcBef>
              <a:spcAft>
                <a:spcPts val="0"/>
              </a:spcAft>
              <a:buSzPts val="1100"/>
              <a:buChar char="●"/>
            </a:pPr>
            <a:r>
              <a:rPr lang="en"/>
              <a:t>The headline is an estimated £2.3 million in combined revenue uplift and cost savings.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h4f44bf0c9fa7f06b_0_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h4f44bf0c9fa7f06b_0_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The reason this new system is needed is:</a:t>
            </a:r>
            <a:endParaRPr/>
          </a:p>
          <a:p>
            <a:pPr indent="-298450" lvl="1" marL="914400" rtl="0" algn="l">
              <a:spcBef>
                <a:spcPts val="0"/>
              </a:spcBef>
              <a:spcAft>
                <a:spcPts val="0"/>
              </a:spcAft>
              <a:buSzPts val="1100"/>
              <a:buChar char="○"/>
            </a:pPr>
            <a:r>
              <a:rPr lang="en"/>
              <a:t>The company is losing money from missed collections and higher operational costs by doing everything manually.</a:t>
            </a:r>
            <a:endParaRPr/>
          </a:p>
          <a:p>
            <a:pPr indent="-298450" lvl="1" marL="914400" rtl="0" algn="l">
              <a:spcBef>
                <a:spcPts val="0"/>
              </a:spcBef>
              <a:spcAft>
                <a:spcPts val="0"/>
              </a:spcAft>
              <a:buSzPts val="1100"/>
              <a:buChar char="○"/>
            </a:pPr>
            <a:r>
              <a:rPr lang="en"/>
              <a:t>There is a lot of organisational friction with the current system. Teams have their own workarounds leading to confusion and fragmented data.</a:t>
            </a:r>
            <a:endParaRPr/>
          </a:p>
          <a:p>
            <a:pPr indent="-298450" lvl="1" marL="914400" rtl="0" algn="l">
              <a:spcBef>
                <a:spcPts val="0"/>
              </a:spcBef>
              <a:spcAft>
                <a:spcPts val="0"/>
              </a:spcAft>
              <a:buSzPts val="1100"/>
              <a:buChar char="○"/>
            </a:pPr>
            <a:r>
              <a:rPr lang="en"/>
              <a:t>The company is currently highly exposed to compliance and audit risk due to multiple sources of truth for data and no clear path to generating end-to-end reports.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h4f44bf0c9fa7f06b_0_1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h4f44bf0c9fa7f06b_0_1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Current key pain points are:</a:t>
            </a:r>
            <a:endParaRPr/>
          </a:p>
          <a:p>
            <a:pPr indent="-298450" lvl="1" marL="914400" rtl="0" algn="l">
              <a:spcBef>
                <a:spcPts val="0"/>
              </a:spcBef>
              <a:spcAft>
                <a:spcPts val="0"/>
              </a:spcAft>
              <a:buSzPts val="1100"/>
              <a:buChar char="○"/>
            </a:pPr>
            <a:r>
              <a:rPr lang="en"/>
              <a:t>Data </a:t>
            </a:r>
            <a:r>
              <a:rPr lang="en"/>
              <a:t>discrepancies</a:t>
            </a:r>
            <a:r>
              <a:rPr lang="en"/>
              <a:t> when updating due to multiple sources of truth.</a:t>
            </a:r>
            <a:endParaRPr/>
          </a:p>
          <a:p>
            <a:pPr indent="-298450" lvl="1" marL="914400" rtl="0" algn="l">
              <a:spcBef>
                <a:spcPts val="0"/>
              </a:spcBef>
              <a:spcAft>
                <a:spcPts val="0"/>
              </a:spcAft>
              <a:buSzPts val="1100"/>
              <a:buChar char="○"/>
            </a:pPr>
            <a:r>
              <a:rPr lang="en"/>
              <a:t>Customers being recontacted unnecessarily and others not being contacted at all due to inconsistent tracking across teams.</a:t>
            </a:r>
            <a:endParaRPr/>
          </a:p>
          <a:p>
            <a:pPr indent="-298450" lvl="1" marL="914400" rtl="0" algn="l">
              <a:spcBef>
                <a:spcPts val="0"/>
              </a:spcBef>
              <a:spcAft>
                <a:spcPts val="0"/>
              </a:spcAft>
              <a:buSzPts val="1100"/>
              <a:buChar char="○"/>
            </a:pPr>
            <a:r>
              <a:rPr lang="en"/>
              <a:t>Payment fulfillment is not checked automatically leading to incorrect contacting of customers or missed payments not being flagged.</a:t>
            </a:r>
            <a:endParaRPr/>
          </a:p>
          <a:p>
            <a:pPr indent="-298450" lvl="1" marL="914400" rtl="0" algn="l">
              <a:spcBef>
                <a:spcPts val="0"/>
              </a:spcBef>
              <a:spcAft>
                <a:spcPts val="0"/>
              </a:spcAft>
              <a:buSzPts val="1100"/>
              <a:buChar char="○"/>
            </a:pPr>
            <a:r>
              <a:rPr lang="en"/>
              <a:t>Poor visibility of </a:t>
            </a:r>
            <a:r>
              <a:rPr lang="en"/>
              <a:t>promises</a:t>
            </a:r>
            <a:r>
              <a:rPr lang="en"/>
              <a:t> to pay made by customers leading to inconsistent follow-ups.</a:t>
            </a:r>
            <a:endParaRPr/>
          </a:p>
          <a:p>
            <a:pPr indent="-298450" lvl="1" marL="914400" rtl="0" algn="l">
              <a:spcBef>
                <a:spcPts val="0"/>
              </a:spcBef>
              <a:spcAft>
                <a:spcPts val="0"/>
              </a:spcAft>
              <a:buSzPts val="1100"/>
              <a:buChar char="○"/>
            </a:pPr>
            <a:r>
              <a:rPr lang="en"/>
              <a:t>Customer contact attempts currently take a long time particularly waiting for customers to answer or call back and accessing customer details which may be in many different </a:t>
            </a:r>
            <a:r>
              <a:rPr lang="en"/>
              <a:t>places.</a:t>
            </a:r>
            <a:endParaRPr/>
          </a:p>
          <a:p>
            <a:pPr indent="-298450" lvl="1" marL="914400" rtl="0" algn="l">
              <a:spcBef>
                <a:spcPts val="0"/>
              </a:spcBef>
              <a:spcAft>
                <a:spcPts val="0"/>
              </a:spcAft>
              <a:buSzPts val="1100"/>
              <a:buChar char="○"/>
            </a:pPr>
            <a:r>
              <a:rPr lang="en"/>
              <a:t>The inaccurate data processes are causing the company to be exposed to audit and compliance risks.</a:t>
            </a:r>
            <a:endParaRPr/>
          </a:p>
          <a:p>
            <a:pPr indent="-298450" lvl="0" marL="457200" rtl="0" algn="l">
              <a:spcBef>
                <a:spcPts val="0"/>
              </a:spcBef>
              <a:spcAft>
                <a:spcPts val="0"/>
              </a:spcAft>
              <a:buSzPts val="1100"/>
              <a:buChar char="●"/>
            </a:pPr>
            <a:r>
              <a:rPr lang="en"/>
              <a:t>The headline is a £2.3 million revenue uplift and cost savings.</a:t>
            </a:r>
            <a:endParaRPr/>
          </a:p>
          <a:p>
            <a:pPr indent="-298450" lvl="1" marL="914400" rtl="0" algn="l">
              <a:spcBef>
                <a:spcPts val="0"/>
              </a:spcBef>
              <a:spcAft>
                <a:spcPts val="0"/>
              </a:spcAft>
              <a:buSzPts val="1100"/>
              <a:buChar char="○"/>
            </a:pPr>
            <a:r>
              <a:rPr lang="en"/>
              <a:t>This comes from 0.065% revenue uplift from missed collections and cost savings on 40% of cases we have identified as being eligible for self-service.</a:t>
            </a:r>
            <a:endParaRPr/>
          </a:p>
          <a:p>
            <a:pPr indent="-298450" lvl="1" marL="914400" rtl="0" algn="l">
              <a:spcBef>
                <a:spcPts val="0"/>
              </a:spcBef>
              <a:spcAft>
                <a:spcPts val="0"/>
              </a:spcAft>
              <a:buSzPts val="1100"/>
              <a:buChar char="○"/>
            </a:pPr>
            <a:r>
              <a:rPr lang="en"/>
              <a:t>Our proposed solution addresses all identified key pain points in current process.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h4f44bf0c9fa7f06b_0_1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h4f44bf0c9fa7f06b_0_1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Three sets of features to be rolled out in phase 1.</a:t>
            </a:r>
            <a:endParaRPr/>
          </a:p>
          <a:p>
            <a:pPr indent="-298450" lvl="1" marL="914400" rtl="0" algn="l">
              <a:spcBef>
                <a:spcPts val="0"/>
              </a:spcBef>
              <a:spcAft>
                <a:spcPts val="0"/>
              </a:spcAft>
              <a:buSzPts val="1100"/>
              <a:buChar char="○"/>
            </a:pPr>
            <a:r>
              <a:rPr lang="en"/>
              <a:t>The first is the central </a:t>
            </a:r>
            <a:r>
              <a:rPr lang="en"/>
              <a:t>database</a:t>
            </a:r>
            <a:r>
              <a:rPr lang="en"/>
              <a:t> and logging needed for all other features.</a:t>
            </a:r>
            <a:endParaRPr/>
          </a:p>
          <a:p>
            <a:pPr indent="-298450" lvl="1" marL="914400" rtl="0" algn="l">
              <a:spcBef>
                <a:spcPts val="0"/>
              </a:spcBef>
              <a:spcAft>
                <a:spcPts val="0"/>
              </a:spcAft>
              <a:buSzPts val="1100"/>
              <a:buChar char="○"/>
            </a:pPr>
            <a:r>
              <a:rPr lang="en"/>
              <a:t>The second is the self-service aspects of the portal which generate most of the cost savings. These allow customers to take basic account actions in an automated system.</a:t>
            </a:r>
            <a:endParaRPr/>
          </a:p>
          <a:p>
            <a:pPr indent="-298450" lvl="1" marL="914400" rtl="0" algn="l">
              <a:spcBef>
                <a:spcPts val="0"/>
              </a:spcBef>
              <a:spcAft>
                <a:spcPts val="0"/>
              </a:spcAft>
              <a:buSzPts val="1100"/>
              <a:buChar char="○"/>
            </a:pPr>
            <a:r>
              <a:rPr lang="en"/>
              <a:t>The third set are </a:t>
            </a:r>
            <a:r>
              <a:rPr lang="en"/>
              <a:t>essential</a:t>
            </a:r>
            <a:r>
              <a:rPr lang="en"/>
              <a:t> security and automation opportunities which are necessary for an effective service.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h4f44bf0c9fa7f06b_0_18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h4f44bf0c9fa7f06b_0_18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The features we considered out of scope for phase 1 are:</a:t>
            </a:r>
            <a:endParaRPr/>
          </a:p>
          <a:p>
            <a:pPr indent="-298450" lvl="1" marL="914400" rtl="0" algn="l">
              <a:spcBef>
                <a:spcPts val="0"/>
              </a:spcBef>
              <a:spcAft>
                <a:spcPts val="0"/>
              </a:spcAft>
              <a:buSzPts val="1100"/>
              <a:buChar char="○"/>
            </a:pPr>
            <a:r>
              <a:rPr lang="en"/>
              <a:t>Automated case </a:t>
            </a:r>
            <a:r>
              <a:rPr lang="en"/>
              <a:t>assignment which would be complex to implement and would not improve on core bottlenecks in the current process.</a:t>
            </a:r>
            <a:endParaRPr/>
          </a:p>
          <a:p>
            <a:pPr indent="-298450" lvl="1" marL="914400" rtl="0" algn="l">
              <a:spcBef>
                <a:spcPts val="0"/>
              </a:spcBef>
              <a:spcAft>
                <a:spcPts val="0"/>
              </a:spcAft>
              <a:buSzPts val="1100"/>
              <a:buChar char="○"/>
            </a:pPr>
            <a:r>
              <a:rPr lang="en"/>
              <a:t>Specialist case handling which again would be complex to implement and is best kept in human hands where reps can exercise judgement.</a:t>
            </a:r>
            <a:endParaRPr/>
          </a:p>
          <a:p>
            <a:pPr indent="-298450" lvl="1" marL="914400" rtl="0" algn="l">
              <a:spcBef>
                <a:spcPts val="0"/>
              </a:spcBef>
              <a:spcAft>
                <a:spcPts val="0"/>
              </a:spcAft>
              <a:buSzPts val="1100"/>
              <a:buChar char="○"/>
            </a:pPr>
            <a:r>
              <a:rPr lang="en"/>
              <a:t>Automated case complexity classification which does not represent a large cost saving and would not reduce the number of cases reps have to deal with.</a:t>
            </a:r>
            <a:endParaRPr/>
          </a:p>
          <a:p>
            <a:pPr indent="-298450" lvl="1" marL="914400" rtl="0" algn="l">
              <a:spcBef>
                <a:spcPts val="0"/>
              </a:spcBef>
              <a:spcAft>
                <a:spcPts val="0"/>
              </a:spcAft>
              <a:buSzPts val="1100"/>
              <a:buChar char="○"/>
            </a:pPr>
            <a:r>
              <a:rPr lang="en"/>
              <a:t>Intelligent case prioritisation which again does not represent real cost savings since it does not reduce the case load.</a:t>
            </a:r>
            <a:endParaRPr/>
          </a:p>
          <a:p>
            <a:pPr indent="-298450" lvl="1" marL="914400" rtl="0" algn="l">
              <a:spcBef>
                <a:spcPts val="0"/>
              </a:spcBef>
              <a:spcAft>
                <a:spcPts val="0"/>
              </a:spcAft>
              <a:buSzPts val="1100"/>
              <a:buChar char="○"/>
            </a:pPr>
            <a:r>
              <a:rPr lang="en"/>
              <a:t>Case escalation which we felt was out of scope for this project.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h4f44bf0c9fa7f06b_0_2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h4f44bf0c9fa7f06b_0_2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We have a Jira backlog of tasks ready to go.</a:t>
            </a:r>
            <a:endParaRPr/>
          </a:p>
          <a:p>
            <a:pPr indent="-298450" lvl="1" marL="914400" rtl="0" algn="l">
              <a:spcBef>
                <a:spcPts val="0"/>
              </a:spcBef>
              <a:spcAft>
                <a:spcPts val="0"/>
              </a:spcAft>
              <a:buSzPts val="1100"/>
              <a:buChar char="○"/>
            </a:pPr>
            <a:r>
              <a:rPr lang="en"/>
              <a:t>Each task is associated to a user story with real business value.</a:t>
            </a:r>
            <a:endParaRPr/>
          </a:p>
          <a:p>
            <a:pPr indent="-298450" lvl="1" marL="914400" rtl="0" algn="l">
              <a:spcBef>
                <a:spcPts val="0"/>
              </a:spcBef>
              <a:spcAft>
                <a:spcPts val="0"/>
              </a:spcAft>
              <a:buSzPts val="1100"/>
              <a:buChar char="○"/>
            </a:pPr>
            <a:r>
              <a:rPr lang="en"/>
              <a:t>Tasks are prioritised by how fundamental they are to the project and how important they are to the business.</a:t>
            </a:r>
            <a:endParaRPr/>
          </a:p>
          <a:p>
            <a:pPr indent="-298450" lvl="1" marL="914400" rtl="0" algn="l">
              <a:spcBef>
                <a:spcPts val="0"/>
              </a:spcBef>
              <a:spcAft>
                <a:spcPts val="0"/>
              </a:spcAft>
              <a:buSzPts val="1100"/>
              <a:buChar char="○"/>
            </a:pPr>
            <a:r>
              <a:rPr lang="en"/>
              <a:t>Jira structure means we can easily onboard development teams.</a:t>
            </a:r>
            <a:endParaRPr/>
          </a:p>
          <a:p>
            <a:pPr indent="-298450" lvl="0" marL="457200" rtl="0" algn="l">
              <a:spcBef>
                <a:spcPts val="0"/>
              </a:spcBef>
              <a:spcAft>
                <a:spcPts val="0"/>
              </a:spcAft>
              <a:buSzPts val="1100"/>
              <a:buChar char="●"/>
            </a:pPr>
            <a:r>
              <a:rPr lang="en"/>
              <a:t>We have a fully interactive working prototype.</a:t>
            </a:r>
            <a:endParaRPr/>
          </a:p>
          <a:p>
            <a:pPr indent="-298450" lvl="1" marL="914400" rtl="0" algn="l">
              <a:spcBef>
                <a:spcPts val="0"/>
              </a:spcBef>
              <a:spcAft>
                <a:spcPts val="0"/>
              </a:spcAft>
              <a:buSzPts val="1100"/>
              <a:buChar char="○"/>
            </a:pPr>
            <a:r>
              <a:rPr lang="en"/>
              <a:t>Has mock data only, no real database, payment provider or email service attached.</a:t>
            </a:r>
            <a:endParaRPr/>
          </a:p>
          <a:p>
            <a:pPr indent="-298450" lvl="1" marL="914400" rtl="0" algn="l">
              <a:spcBef>
                <a:spcPts val="0"/>
              </a:spcBef>
              <a:spcAft>
                <a:spcPts val="0"/>
              </a:spcAft>
              <a:buSzPts val="1100"/>
              <a:buChar char="○"/>
            </a:pPr>
            <a:r>
              <a:rPr lang="en"/>
              <a:t>We can demo happy and </a:t>
            </a:r>
            <a:r>
              <a:rPr lang="en"/>
              <a:t>exception</a:t>
            </a:r>
            <a:r>
              <a:rPr lang="en"/>
              <a:t> paths for new portal.</a:t>
            </a:r>
            <a:endParaRPr/>
          </a:p>
          <a:p>
            <a:pPr indent="-298450" lvl="1" marL="914400" rtl="0" algn="l">
              <a:spcBef>
                <a:spcPts val="0"/>
              </a:spcBef>
              <a:spcAft>
                <a:spcPts val="0"/>
              </a:spcAft>
              <a:buSzPts val="1100"/>
              <a:buChar char="○"/>
            </a:pPr>
            <a:r>
              <a:rPr lang="en"/>
              <a:t>All features identified for phase 1 are available to demo.</a:t>
            </a:r>
            <a:endParaRPr/>
          </a:p>
          <a:p>
            <a:pPr indent="-298450" lvl="1" marL="914400" rtl="0" algn="l">
              <a:spcBef>
                <a:spcPts val="0"/>
              </a:spcBef>
              <a:spcAft>
                <a:spcPts val="0"/>
              </a:spcAft>
              <a:buSzPts val="1100"/>
              <a:buChar char="○"/>
            </a:pPr>
            <a:r>
              <a:rPr lang="en"/>
              <a:t>The prototype is ready to send out to stakeholders for feedback.</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h4f44bf0c9fa7f06b_0_2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h4f44bf0c9fa7f06b_0_2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Here are some key risks and their proposed mitigations.</a:t>
            </a:r>
            <a:endParaRPr/>
          </a:p>
          <a:p>
            <a:pPr indent="-298450" lvl="1" marL="914400" rtl="0" algn="l">
              <a:spcBef>
                <a:spcPts val="0"/>
              </a:spcBef>
              <a:spcAft>
                <a:spcPts val="0"/>
              </a:spcAft>
              <a:buSzPts val="1100"/>
              <a:buChar char="○"/>
            </a:pPr>
            <a:r>
              <a:rPr lang="en"/>
              <a:t>Errors with the legacy </a:t>
            </a:r>
            <a:r>
              <a:rPr lang="en"/>
              <a:t>database migration.</a:t>
            </a:r>
            <a:endParaRPr/>
          </a:p>
          <a:p>
            <a:pPr indent="-298450" lvl="1" marL="914400" rtl="0" algn="l">
              <a:spcBef>
                <a:spcPts val="0"/>
              </a:spcBef>
              <a:spcAft>
                <a:spcPts val="0"/>
              </a:spcAft>
              <a:buSzPts val="1100"/>
              <a:buChar char="○"/>
            </a:pPr>
            <a:r>
              <a:rPr lang="en"/>
              <a:t>To mitigate this we monitor the process carefully and audit that records are the same on both legacy and new systems.</a:t>
            </a:r>
            <a:endParaRPr/>
          </a:p>
          <a:p>
            <a:pPr indent="-298450" lvl="1" marL="914400" rtl="0" algn="l">
              <a:spcBef>
                <a:spcPts val="0"/>
              </a:spcBef>
              <a:spcAft>
                <a:spcPts val="0"/>
              </a:spcAft>
              <a:buSzPts val="1100"/>
              <a:buChar char="○"/>
            </a:pPr>
            <a:r>
              <a:rPr lang="en"/>
              <a:t>Low portal adoption rate from customers if portal is not an effective service or encounters errors.</a:t>
            </a:r>
            <a:endParaRPr/>
          </a:p>
          <a:p>
            <a:pPr indent="-298450" lvl="1" marL="914400" rtl="0" algn="l">
              <a:spcBef>
                <a:spcPts val="0"/>
              </a:spcBef>
              <a:spcAft>
                <a:spcPts val="0"/>
              </a:spcAft>
              <a:buSzPts val="1100"/>
              <a:buChar char="○"/>
            </a:pPr>
            <a:r>
              <a:rPr lang="en"/>
              <a:t>Keep manual paths to contact open and test thoroughly before deploying.</a:t>
            </a:r>
            <a:endParaRPr/>
          </a:p>
          <a:p>
            <a:pPr indent="-298450" lvl="1" marL="914400" rtl="0" algn="l">
              <a:spcBef>
                <a:spcPts val="0"/>
              </a:spcBef>
              <a:spcAft>
                <a:spcPts val="0"/>
              </a:spcAft>
              <a:buSzPts val="1100"/>
              <a:buChar char="○"/>
            </a:pPr>
            <a:r>
              <a:rPr lang="en"/>
              <a:t>Operational workflow being disrupted if there are errors with the portal or it is hard to use.</a:t>
            </a:r>
            <a:endParaRPr/>
          </a:p>
          <a:p>
            <a:pPr indent="-298450" lvl="1" marL="914400" rtl="0" algn="l">
              <a:spcBef>
                <a:spcPts val="0"/>
              </a:spcBef>
              <a:spcAft>
                <a:spcPts val="0"/>
              </a:spcAft>
              <a:buSzPts val="1100"/>
              <a:buChar char="○"/>
            </a:pPr>
            <a:r>
              <a:rPr lang="en"/>
              <a:t>Mitigated by having the portal handle simple cases only and keeping complex cases in the hands of reps.</a:t>
            </a:r>
            <a:endParaRPr/>
          </a:p>
          <a:p>
            <a:pPr indent="-298450" lvl="1" marL="914400" rtl="0" algn="l">
              <a:spcBef>
                <a:spcPts val="0"/>
              </a:spcBef>
              <a:spcAft>
                <a:spcPts val="0"/>
              </a:spcAft>
              <a:buSzPts val="1100"/>
              <a:buChar char="○"/>
            </a:pPr>
            <a:r>
              <a:rPr lang="en"/>
              <a:t>Compliance risks from errors in new reporting system.</a:t>
            </a:r>
            <a:endParaRPr/>
          </a:p>
          <a:p>
            <a:pPr indent="-298450" lvl="1" marL="914400" rtl="0" algn="l">
              <a:spcBef>
                <a:spcPts val="0"/>
              </a:spcBef>
              <a:spcAft>
                <a:spcPts val="0"/>
              </a:spcAft>
              <a:buSzPts val="1100"/>
              <a:buChar char="○"/>
            </a:pPr>
            <a:r>
              <a:rPr lang="en"/>
              <a:t>Keep manual reporting paths open and institute checks for data validity in every report.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4f44bf0c9fa7f06b_6_0)">
  <p:cSld name="Generated (h4f44bf0c9fa7f06b_6_0)">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54" name="Shape 54"/>
        <p:cNvGrpSpPr/>
        <p:nvPr/>
      </p:nvGrpSpPr>
      <p:grpSpPr>
        <a:xfrm>
          <a:off x="0" y="0"/>
          <a:ext cx="0" cy="0"/>
          <a:chOff x="0" y="0"/>
          <a:chExt cx="0" cy="0"/>
        </a:xfrm>
      </p:grpSpPr>
      <p:grpSp>
        <p:nvGrpSpPr>
          <p:cNvPr id="55" name="Google Shape;55;p14"/>
          <p:cNvGrpSpPr/>
          <p:nvPr/>
        </p:nvGrpSpPr>
        <p:grpSpPr>
          <a:xfrm>
            <a:off x="476250" y="333375"/>
            <a:ext cx="8191500" cy="571650"/>
            <a:chOff x="0" y="0"/>
            <a:chExt cx="8191500" cy="571650"/>
          </a:xfrm>
        </p:grpSpPr>
        <p:sp>
          <p:nvSpPr>
            <p:cNvPr id="56" name="Google Shape;56;p14"/>
            <p:cNvSpPr txBox="1"/>
            <p:nvPr/>
          </p:nvSpPr>
          <p:spPr>
            <a:xfrm>
              <a:off x="0" y="0"/>
              <a:ext cx="8191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38BDF8"/>
                  </a:solidFill>
                  <a:latin typeface="Inter SemiBold"/>
                  <a:ea typeface="Inter SemiBold"/>
                  <a:cs typeface="Inter SemiBold"/>
                  <a:sym typeface="Inter SemiBold"/>
                </a:rPr>
                <a:t>Proposal: Smart Recovery</a:t>
              </a:r>
              <a:endParaRPr b="0" sz="1000">
                <a:solidFill>
                  <a:srgbClr val="38BDF8"/>
                </a:solidFill>
                <a:latin typeface="Inter SemiBold"/>
                <a:ea typeface="Inter SemiBold"/>
                <a:cs typeface="Inter SemiBold"/>
                <a:sym typeface="Inter SemiBold"/>
              </a:endParaRPr>
            </a:p>
          </p:txBody>
        </p:sp>
        <p:sp>
          <p:nvSpPr>
            <p:cNvPr id="57" name="Google Shape;57;p14"/>
            <p:cNvSpPr txBox="1"/>
            <p:nvPr/>
          </p:nvSpPr>
          <p:spPr>
            <a:xfrm>
              <a:off x="0" y="209550"/>
              <a:ext cx="8191500" cy="36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50">
                  <a:solidFill>
                    <a:srgbClr val="FFFFFF"/>
                  </a:solidFill>
                  <a:latin typeface="Inter"/>
                  <a:ea typeface="Inter"/>
                  <a:cs typeface="Inter"/>
                  <a:sym typeface="Inter"/>
                </a:rPr>
                <a:t>Self-Service Payments Collections Portal for Legacy Trust Bank</a:t>
              </a:r>
              <a:endParaRPr b="1" sz="1850">
                <a:solidFill>
                  <a:srgbClr val="FFFFFF"/>
                </a:solidFill>
                <a:latin typeface="Inter"/>
                <a:ea typeface="Inter"/>
                <a:cs typeface="Inter"/>
                <a:sym typeface="Inter"/>
              </a:endParaRPr>
            </a:p>
          </p:txBody>
        </p:sp>
      </p:grpSp>
      <p:grpSp>
        <p:nvGrpSpPr>
          <p:cNvPr id="58" name="Google Shape;58;p14"/>
          <p:cNvGrpSpPr/>
          <p:nvPr/>
        </p:nvGrpSpPr>
        <p:grpSpPr>
          <a:xfrm>
            <a:off x="476250" y="1000125"/>
            <a:ext cx="8191500" cy="1476300"/>
            <a:chOff x="0" y="0"/>
            <a:chExt cx="8191500" cy="1476300"/>
          </a:xfrm>
        </p:grpSpPr>
        <p:sp>
          <p:nvSpPr>
            <p:cNvPr id="59" name="Google Shape;59;p14"/>
            <p:cNvSpPr/>
            <p:nvPr/>
          </p:nvSpPr>
          <p:spPr>
            <a:xfrm>
              <a:off x="0" y="0"/>
              <a:ext cx="8191500" cy="1476300"/>
            </a:xfrm>
            <a:prstGeom prst="roundRect">
              <a:avLst>
                <a:gd fmla="val 6451"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 name="Google Shape;60;p14"/>
            <p:cNvSpPr/>
            <p:nvPr/>
          </p:nvSpPr>
          <p:spPr>
            <a:xfrm>
              <a:off x="0" y="0"/>
              <a:ext cx="47700" cy="1476300"/>
            </a:xfrm>
            <a:prstGeom prst="roundRect">
              <a:avLst>
                <a:gd fmla="val 4000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1" name="Google Shape;61;p14"/>
            <p:cNvGrpSpPr/>
            <p:nvPr/>
          </p:nvGrpSpPr>
          <p:grpSpPr>
            <a:xfrm>
              <a:off x="238125" y="171450"/>
              <a:ext cx="4953000" cy="1171500"/>
              <a:chOff x="0" y="0"/>
              <a:chExt cx="4953000" cy="1171500"/>
            </a:xfrm>
          </p:grpSpPr>
          <p:sp>
            <p:nvSpPr>
              <p:cNvPr id="62" name="Google Shape;62;p14"/>
              <p:cNvSpPr txBox="1"/>
              <p:nvPr/>
            </p:nvSpPr>
            <p:spPr>
              <a:xfrm>
                <a:off x="0" y="0"/>
                <a:ext cx="49530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FFFFFF"/>
                    </a:solidFill>
                    <a:latin typeface="Inter"/>
                    <a:ea typeface="Inter"/>
                    <a:cs typeface="Inter"/>
                    <a:sym typeface="Inter"/>
                  </a:rPr>
                  <a:t>Core Proposal: Centralized Data &amp; Multi-Stakeholder Portal</a:t>
                </a:r>
                <a:endParaRPr b="1" sz="1200">
                  <a:solidFill>
                    <a:srgbClr val="FFFFFF"/>
                  </a:solidFill>
                  <a:latin typeface="Inter"/>
                  <a:ea typeface="Inter"/>
                  <a:cs typeface="Inter"/>
                  <a:sym typeface="Inter"/>
                </a:endParaRPr>
              </a:p>
            </p:txBody>
          </p:sp>
          <p:sp>
            <p:nvSpPr>
              <p:cNvPr id="63" name="Google Shape;63;p14"/>
              <p:cNvSpPr txBox="1"/>
              <p:nvPr/>
            </p:nvSpPr>
            <p:spPr>
              <a:xfrm>
                <a:off x="0" y="266700"/>
                <a:ext cx="4953000" cy="9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E2E8F0"/>
                    </a:solidFill>
                    <a:latin typeface="Inter"/>
                    <a:ea typeface="Inter"/>
                    <a:cs typeface="Inter"/>
                    <a:sym typeface="Inter"/>
                  </a:rPr>
                  <a:t>Migrate all legacy data into a single central database to create an authoritative single source of truth. The portal empowers customers to take automated account actions, enables reps to manage customer details and contact logs, and provides audit teams with auto-generated compliance reports.</a:t>
                </a:r>
                <a:endParaRPr b="0" sz="1000">
                  <a:solidFill>
                    <a:srgbClr val="E2E8F0"/>
                  </a:solidFill>
                  <a:latin typeface="Inter"/>
                  <a:ea typeface="Inter"/>
                  <a:cs typeface="Inter"/>
                  <a:sym typeface="Inter"/>
                </a:endParaRPr>
              </a:p>
            </p:txBody>
          </p:sp>
        </p:grpSp>
        <p:grpSp>
          <p:nvGrpSpPr>
            <p:cNvPr id="64" name="Google Shape;64;p14"/>
            <p:cNvGrpSpPr/>
            <p:nvPr/>
          </p:nvGrpSpPr>
          <p:grpSpPr>
            <a:xfrm>
              <a:off x="5429250" y="171450"/>
              <a:ext cx="2524200" cy="1133400"/>
              <a:chOff x="0" y="0"/>
              <a:chExt cx="2524200" cy="1133400"/>
            </a:xfrm>
          </p:grpSpPr>
          <p:sp>
            <p:nvSpPr>
              <p:cNvPr id="65" name="Google Shape;65;p14"/>
              <p:cNvSpPr/>
              <p:nvPr/>
            </p:nvSpPr>
            <p:spPr>
              <a:xfrm>
                <a:off x="0" y="0"/>
                <a:ext cx="2524200" cy="1133400"/>
              </a:xfrm>
              <a:prstGeom prst="roundRect">
                <a:avLst>
                  <a:gd fmla="val 6722" name="adj"/>
                </a:avLst>
              </a:prstGeom>
              <a:solidFill>
                <a:srgbClr val="0F172A">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6" name="Google Shape;66;p14"/>
              <p:cNvGrpSpPr/>
              <p:nvPr/>
            </p:nvGrpSpPr>
            <p:grpSpPr>
              <a:xfrm>
                <a:off x="142875" y="171450"/>
                <a:ext cx="2238300" cy="838350"/>
                <a:chOff x="0" y="0"/>
                <a:chExt cx="2238300" cy="838350"/>
              </a:xfrm>
            </p:grpSpPr>
            <p:sp>
              <p:nvSpPr>
                <p:cNvPr id="67" name="Google Shape;67;p14"/>
                <p:cNvSpPr txBox="1"/>
                <p:nvPr/>
              </p:nvSpPr>
              <p:spPr>
                <a:xfrm>
                  <a:off x="0" y="0"/>
                  <a:ext cx="2238300" cy="3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035">
                      <a:solidFill>
                        <a:srgbClr val="38BDF8"/>
                      </a:solidFill>
                      <a:latin typeface="Inter"/>
                      <a:ea typeface="Inter"/>
                      <a:cs typeface="Inter"/>
                      <a:sym typeface="Inter"/>
                    </a:rPr>
                    <a:t>£2.3M / yr</a:t>
                  </a:r>
                  <a:endParaRPr b="1" sz="2035">
                    <a:solidFill>
                      <a:srgbClr val="38BDF8"/>
                    </a:solidFill>
                    <a:latin typeface="Inter"/>
                    <a:ea typeface="Inter"/>
                    <a:cs typeface="Inter"/>
                    <a:sym typeface="Inter"/>
                  </a:endParaRPr>
                </a:p>
              </p:txBody>
            </p:sp>
            <p:sp>
              <p:nvSpPr>
                <p:cNvPr id="68" name="Google Shape;68;p14"/>
                <p:cNvSpPr txBox="1"/>
                <p:nvPr/>
              </p:nvSpPr>
              <p:spPr>
                <a:xfrm>
                  <a:off x="0" y="361950"/>
                  <a:ext cx="22383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50">
                      <a:solidFill>
                        <a:srgbClr val="94A3B8"/>
                      </a:solidFill>
                      <a:latin typeface="Inter Medium"/>
                      <a:ea typeface="Inter Medium"/>
                      <a:cs typeface="Inter Medium"/>
                      <a:sym typeface="Inter Medium"/>
                    </a:rPr>
                    <a:t>Combined Revenue Uplift &amp; Savings</a:t>
                  </a:r>
                  <a:br>
                    <a:rPr b="0" lang="en" sz="850">
                      <a:solidFill>
                        <a:srgbClr val="94A3B8"/>
                      </a:solidFill>
                      <a:latin typeface="Inter Medium"/>
                      <a:ea typeface="Inter Medium"/>
                      <a:cs typeface="Inter Medium"/>
                      <a:sym typeface="Inter Medium"/>
                    </a:rPr>
                  </a:br>
                  <a:r>
                    <a:rPr b="0" lang="en" sz="850">
                      <a:solidFill>
                        <a:srgbClr val="94A3B8"/>
                      </a:solidFill>
                      <a:latin typeface="Inter Medium"/>
                      <a:ea typeface="Inter Medium"/>
                      <a:cs typeface="Inter Medium"/>
                      <a:sym typeface="Inter Medium"/>
                    </a:rPr>
                    <a:t>From reduced missed collections &amp; optimized staffing costs</a:t>
                  </a:r>
                  <a:endParaRPr b="0" sz="850">
                    <a:solidFill>
                      <a:srgbClr val="94A3B8"/>
                    </a:solidFill>
                    <a:latin typeface="Inter Medium"/>
                    <a:ea typeface="Inter Medium"/>
                    <a:cs typeface="Inter Medium"/>
                    <a:sym typeface="Inter Medium"/>
                  </a:endParaRPr>
                </a:p>
              </p:txBody>
            </p:sp>
          </p:grpSp>
        </p:grpSp>
      </p:grpSp>
      <p:grpSp>
        <p:nvGrpSpPr>
          <p:cNvPr id="69" name="Google Shape;69;p14"/>
          <p:cNvGrpSpPr/>
          <p:nvPr/>
        </p:nvGrpSpPr>
        <p:grpSpPr>
          <a:xfrm>
            <a:off x="476250" y="2667000"/>
            <a:ext cx="2533800" cy="2000100"/>
            <a:chOff x="0" y="0"/>
            <a:chExt cx="2533800" cy="2000100"/>
          </a:xfrm>
        </p:grpSpPr>
        <p:sp>
          <p:nvSpPr>
            <p:cNvPr id="70" name="Google Shape;70;p14"/>
            <p:cNvSpPr/>
            <p:nvPr/>
          </p:nvSpPr>
          <p:spPr>
            <a:xfrm>
              <a:off x="0" y="0"/>
              <a:ext cx="2533800" cy="2000100"/>
            </a:xfrm>
            <a:prstGeom prst="roundRect">
              <a:avLst>
                <a:gd fmla="val 3809"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1" name="Google Shape;71;p14"/>
            <p:cNvGrpSpPr/>
            <p:nvPr/>
          </p:nvGrpSpPr>
          <p:grpSpPr>
            <a:xfrm>
              <a:off x="190500" y="190500"/>
              <a:ext cx="2152800" cy="1600200"/>
              <a:chOff x="0" y="0"/>
              <a:chExt cx="2152800" cy="1600200"/>
            </a:xfrm>
          </p:grpSpPr>
          <p:sp>
            <p:nvSpPr>
              <p:cNvPr id="72" name="Google Shape;72;p14"/>
              <p:cNvSpPr/>
              <p:nvPr/>
            </p:nvSpPr>
            <p:spPr>
              <a:xfrm>
                <a:off x="0" y="0"/>
                <a:ext cx="304800" cy="304800"/>
              </a:xfrm>
              <a:prstGeom prst="ellipse">
                <a:avLst/>
              </a:prstGeom>
              <a:solidFill>
                <a:srgbClr val="0284C7">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 name="Google Shape;73;p14"/>
              <p:cNvSpPr txBox="1"/>
              <p:nvPr/>
            </p:nvSpPr>
            <p:spPr>
              <a:xfrm>
                <a:off x="0" y="0"/>
                <a:ext cx="3048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 sz="1100">
                    <a:solidFill>
                      <a:srgbClr val="38BDF8"/>
                    </a:solidFill>
                    <a:latin typeface="Inter"/>
                    <a:ea typeface="Inter"/>
                    <a:cs typeface="Inter"/>
                    <a:sym typeface="Inter"/>
                  </a:rPr>
                  <a:t>1</a:t>
                </a:r>
                <a:endParaRPr b="1" i="0" sz="1100">
                  <a:solidFill>
                    <a:srgbClr val="38BDF8"/>
                  </a:solidFill>
                  <a:latin typeface="Inter"/>
                  <a:ea typeface="Inter"/>
                  <a:cs typeface="Inter"/>
                  <a:sym typeface="Inter"/>
                </a:endParaRPr>
              </a:p>
            </p:txBody>
          </p:sp>
          <p:sp>
            <p:nvSpPr>
              <p:cNvPr id="74" name="Google Shape;74;p14"/>
              <p:cNvSpPr txBox="1"/>
              <p:nvPr/>
            </p:nvSpPr>
            <p:spPr>
              <a:xfrm>
                <a:off x="400050" y="47625"/>
                <a:ext cx="17526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F8FAFC"/>
                    </a:solidFill>
                    <a:latin typeface="Inter SemiBold"/>
                    <a:ea typeface="Inter SemiBold"/>
                    <a:cs typeface="Inter SemiBold"/>
                    <a:sym typeface="Inter SemiBold"/>
                  </a:rPr>
                  <a:t>Audit &amp; Compliance</a:t>
                </a:r>
                <a:endParaRPr b="0" sz="1100">
                  <a:solidFill>
                    <a:srgbClr val="F8FAFC"/>
                  </a:solidFill>
                  <a:latin typeface="Inter SemiBold"/>
                  <a:ea typeface="Inter SemiBold"/>
                  <a:cs typeface="Inter SemiBold"/>
                  <a:sym typeface="Inter SemiBold"/>
                </a:endParaRPr>
              </a:p>
            </p:txBody>
          </p:sp>
          <p:sp>
            <p:nvSpPr>
              <p:cNvPr id="75" name="Google Shape;75;p14"/>
              <p:cNvSpPr txBox="1"/>
              <p:nvPr/>
            </p:nvSpPr>
            <p:spPr>
              <a:xfrm>
                <a:off x="0" y="457200"/>
                <a:ext cx="21528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50">
                    <a:solidFill>
                      <a:srgbClr val="94A3B8"/>
                    </a:solidFill>
                    <a:latin typeface="Inter"/>
                    <a:ea typeface="Inter"/>
                    <a:cs typeface="Inter"/>
                    <a:sym typeface="Inter"/>
                  </a:rPr>
                  <a:t>Delivers full visibility with automatically generated audit reports, streamlined compliance tracking, and robust logging across all customer interactions.</a:t>
                </a:r>
                <a:endParaRPr b="0" sz="950">
                  <a:solidFill>
                    <a:srgbClr val="94A3B8"/>
                  </a:solidFill>
                  <a:latin typeface="Inter"/>
                  <a:ea typeface="Inter"/>
                  <a:cs typeface="Inter"/>
                  <a:sym typeface="Inter"/>
                </a:endParaRPr>
              </a:p>
            </p:txBody>
          </p:sp>
        </p:grpSp>
      </p:grpSp>
      <p:grpSp>
        <p:nvGrpSpPr>
          <p:cNvPr id="76" name="Google Shape;76;p14"/>
          <p:cNvGrpSpPr/>
          <p:nvPr/>
        </p:nvGrpSpPr>
        <p:grpSpPr>
          <a:xfrm>
            <a:off x="3295650" y="2667000"/>
            <a:ext cx="2533800" cy="2000100"/>
            <a:chOff x="0" y="0"/>
            <a:chExt cx="2533800" cy="2000100"/>
          </a:xfrm>
        </p:grpSpPr>
        <p:sp>
          <p:nvSpPr>
            <p:cNvPr id="77" name="Google Shape;77;p14"/>
            <p:cNvSpPr/>
            <p:nvPr/>
          </p:nvSpPr>
          <p:spPr>
            <a:xfrm>
              <a:off x="0" y="0"/>
              <a:ext cx="2533800" cy="2000100"/>
            </a:xfrm>
            <a:prstGeom prst="roundRect">
              <a:avLst>
                <a:gd fmla="val 3809"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8" name="Google Shape;78;p14"/>
            <p:cNvGrpSpPr/>
            <p:nvPr/>
          </p:nvGrpSpPr>
          <p:grpSpPr>
            <a:xfrm>
              <a:off x="190500" y="190500"/>
              <a:ext cx="2152800" cy="1600200"/>
              <a:chOff x="0" y="0"/>
              <a:chExt cx="2152800" cy="1600200"/>
            </a:xfrm>
          </p:grpSpPr>
          <p:sp>
            <p:nvSpPr>
              <p:cNvPr id="79" name="Google Shape;79;p14"/>
              <p:cNvSpPr/>
              <p:nvPr/>
            </p:nvSpPr>
            <p:spPr>
              <a:xfrm>
                <a:off x="0" y="0"/>
                <a:ext cx="304800" cy="304800"/>
              </a:xfrm>
              <a:prstGeom prst="ellipse">
                <a:avLst/>
              </a:prstGeom>
              <a:solidFill>
                <a:srgbClr val="0284C7">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 name="Google Shape;80;p14"/>
              <p:cNvSpPr txBox="1"/>
              <p:nvPr/>
            </p:nvSpPr>
            <p:spPr>
              <a:xfrm>
                <a:off x="0" y="0"/>
                <a:ext cx="3048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 sz="1100">
                    <a:solidFill>
                      <a:srgbClr val="38BDF8"/>
                    </a:solidFill>
                    <a:latin typeface="Inter"/>
                    <a:ea typeface="Inter"/>
                    <a:cs typeface="Inter"/>
                    <a:sym typeface="Inter"/>
                  </a:rPr>
                  <a:t>2</a:t>
                </a:r>
                <a:endParaRPr b="1" i="0" sz="1100">
                  <a:solidFill>
                    <a:srgbClr val="38BDF8"/>
                  </a:solidFill>
                  <a:latin typeface="Inter"/>
                  <a:ea typeface="Inter"/>
                  <a:cs typeface="Inter"/>
                  <a:sym typeface="Inter"/>
                </a:endParaRPr>
              </a:p>
            </p:txBody>
          </p:sp>
          <p:sp>
            <p:nvSpPr>
              <p:cNvPr id="81" name="Google Shape;81;p14"/>
              <p:cNvSpPr txBox="1"/>
              <p:nvPr/>
            </p:nvSpPr>
            <p:spPr>
              <a:xfrm>
                <a:off x="400050" y="47625"/>
                <a:ext cx="17526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F8FAFC"/>
                    </a:solidFill>
                    <a:latin typeface="Inter SemiBold"/>
                    <a:ea typeface="Inter SemiBold"/>
                    <a:cs typeface="Inter SemiBold"/>
                    <a:sym typeface="Inter SemiBold"/>
                  </a:rPr>
                  <a:t>Scalable Architecture</a:t>
                </a:r>
                <a:endParaRPr b="0" sz="1100">
                  <a:solidFill>
                    <a:srgbClr val="F8FAFC"/>
                  </a:solidFill>
                  <a:latin typeface="Inter SemiBold"/>
                  <a:ea typeface="Inter SemiBold"/>
                  <a:cs typeface="Inter SemiBold"/>
                  <a:sym typeface="Inter SemiBold"/>
                </a:endParaRPr>
              </a:p>
            </p:txBody>
          </p:sp>
          <p:sp>
            <p:nvSpPr>
              <p:cNvPr id="82" name="Google Shape;82;p14"/>
              <p:cNvSpPr txBox="1"/>
              <p:nvPr/>
            </p:nvSpPr>
            <p:spPr>
              <a:xfrm>
                <a:off x="0" y="457200"/>
                <a:ext cx="21528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50">
                    <a:solidFill>
                      <a:srgbClr val="94A3B8"/>
                    </a:solidFill>
                    <a:latin typeface="Inter"/>
                    <a:ea typeface="Inter"/>
                    <a:cs typeface="Inter"/>
                    <a:sym typeface="Inter"/>
                  </a:rPr>
                  <a:t>Built on a unified central database designed to scale seamlessly with future account growth, expanded transaction volumes, and evolving business needs.</a:t>
                </a:r>
                <a:endParaRPr b="0" sz="950">
                  <a:solidFill>
                    <a:srgbClr val="94A3B8"/>
                  </a:solidFill>
                  <a:latin typeface="Inter"/>
                  <a:ea typeface="Inter"/>
                  <a:cs typeface="Inter"/>
                  <a:sym typeface="Inter"/>
                </a:endParaRPr>
              </a:p>
            </p:txBody>
          </p:sp>
        </p:grpSp>
      </p:grpSp>
      <p:grpSp>
        <p:nvGrpSpPr>
          <p:cNvPr id="83" name="Google Shape;83;p14"/>
          <p:cNvGrpSpPr/>
          <p:nvPr/>
        </p:nvGrpSpPr>
        <p:grpSpPr>
          <a:xfrm>
            <a:off x="6115050" y="2667000"/>
            <a:ext cx="2533800" cy="2000100"/>
            <a:chOff x="0" y="0"/>
            <a:chExt cx="2533800" cy="2000100"/>
          </a:xfrm>
        </p:grpSpPr>
        <p:sp>
          <p:nvSpPr>
            <p:cNvPr id="84" name="Google Shape;84;p14"/>
            <p:cNvSpPr/>
            <p:nvPr/>
          </p:nvSpPr>
          <p:spPr>
            <a:xfrm>
              <a:off x="0" y="0"/>
              <a:ext cx="2533800" cy="2000100"/>
            </a:xfrm>
            <a:prstGeom prst="roundRect">
              <a:avLst>
                <a:gd fmla="val 3809"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85" name="Google Shape;85;p14"/>
            <p:cNvGrpSpPr/>
            <p:nvPr/>
          </p:nvGrpSpPr>
          <p:grpSpPr>
            <a:xfrm>
              <a:off x="190500" y="190500"/>
              <a:ext cx="2152800" cy="1600200"/>
              <a:chOff x="0" y="0"/>
              <a:chExt cx="2152800" cy="1600200"/>
            </a:xfrm>
          </p:grpSpPr>
          <p:sp>
            <p:nvSpPr>
              <p:cNvPr id="86" name="Google Shape;86;p14"/>
              <p:cNvSpPr/>
              <p:nvPr/>
            </p:nvSpPr>
            <p:spPr>
              <a:xfrm>
                <a:off x="0" y="0"/>
                <a:ext cx="304800" cy="304800"/>
              </a:xfrm>
              <a:prstGeom prst="ellipse">
                <a:avLst/>
              </a:prstGeom>
              <a:solidFill>
                <a:srgbClr val="0284C7">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 name="Google Shape;87;p14"/>
              <p:cNvSpPr txBox="1"/>
              <p:nvPr/>
            </p:nvSpPr>
            <p:spPr>
              <a:xfrm>
                <a:off x="0" y="0"/>
                <a:ext cx="3048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 sz="1100">
                    <a:solidFill>
                      <a:srgbClr val="38BDF8"/>
                    </a:solidFill>
                    <a:latin typeface="Inter"/>
                    <a:ea typeface="Inter"/>
                    <a:cs typeface="Inter"/>
                    <a:sym typeface="Inter"/>
                  </a:rPr>
                  <a:t>3</a:t>
                </a:r>
                <a:endParaRPr b="1" i="0" sz="1100">
                  <a:solidFill>
                    <a:srgbClr val="38BDF8"/>
                  </a:solidFill>
                  <a:latin typeface="Inter"/>
                  <a:ea typeface="Inter"/>
                  <a:cs typeface="Inter"/>
                  <a:sym typeface="Inter"/>
                </a:endParaRPr>
              </a:p>
            </p:txBody>
          </p:sp>
          <p:sp>
            <p:nvSpPr>
              <p:cNvPr id="88" name="Google Shape;88;p14"/>
              <p:cNvSpPr txBox="1"/>
              <p:nvPr/>
            </p:nvSpPr>
            <p:spPr>
              <a:xfrm>
                <a:off x="400050" y="47625"/>
                <a:ext cx="17526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F8FAFC"/>
                    </a:solidFill>
                    <a:latin typeface="Inter SemiBold"/>
                    <a:ea typeface="Inter SemiBold"/>
                    <a:cs typeface="Inter SemiBold"/>
                    <a:sym typeface="Inter SemiBold"/>
                  </a:rPr>
                  <a:t>Customer Experience</a:t>
                </a:r>
                <a:endParaRPr b="0" sz="1100">
                  <a:solidFill>
                    <a:srgbClr val="F8FAFC"/>
                  </a:solidFill>
                  <a:latin typeface="Inter SemiBold"/>
                  <a:ea typeface="Inter SemiBold"/>
                  <a:cs typeface="Inter SemiBold"/>
                  <a:sym typeface="Inter SemiBold"/>
                </a:endParaRPr>
              </a:p>
            </p:txBody>
          </p:sp>
          <p:sp>
            <p:nvSpPr>
              <p:cNvPr id="89" name="Google Shape;89;p14"/>
              <p:cNvSpPr txBox="1"/>
              <p:nvPr/>
            </p:nvSpPr>
            <p:spPr>
              <a:xfrm>
                <a:off x="0" y="457200"/>
                <a:ext cx="21528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50">
                    <a:solidFill>
                      <a:srgbClr val="94A3B8"/>
                    </a:solidFill>
                    <a:latin typeface="Inter"/>
                    <a:ea typeface="Inter"/>
                    <a:cs typeface="Inter"/>
                    <a:sym typeface="Inter"/>
                  </a:rPr>
                  <a:t>Drives higher user satisfaction by offering intuitive automated self-service options, reducing friction, and empowering fast account resolutions.</a:t>
                </a:r>
                <a:endParaRPr b="0" sz="950">
                  <a:solidFill>
                    <a:srgbClr val="94A3B8"/>
                  </a:solidFill>
                  <a:latin typeface="Inter"/>
                  <a:ea typeface="Inter"/>
                  <a:cs typeface="Inter"/>
                  <a:sym typeface="Inte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93" name="Shape 93"/>
        <p:cNvGrpSpPr/>
        <p:nvPr/>
      </p:nvGrpSpPr>
      <p:grpSpPr>
        <a:xfrm>
          <a:off x="0" y="0"/>
          <a:ext cx="0" cy="0"/>
          <a:chOff x="0" y="0"/>
          <a:chExt cx="0" cy="0"/>
        </a:xfrm>
      </p:grpSpPr>
      <p:grpSp>
        <p:nvGrpSpPr>
          <p:cNvPr id="94" name="Google Shape;94;p15"/>
          <p:cNvGrpSpPr/>
          <p:nvPr/>
        </p:nvGrpSpPr>
        <p:grpSpPr>
          <a:xfrm>
            <a:off x="476250" y="333375"/>
            <a:ext cx="8191500" cy="590550"/>
            <a:chOff x="0" y="0"/>
            <a:chExt cx="8191500" cy="590550"/>
          </a:xfrm>
        </p:grpSpPr>
        <p:sp>
          <p:nvSpPr>
            <p:cNvPr id="95" name="Google Shape;95;p15"/>
            <p:cNvSpPr txBox="1"/>
            <p:nvPr/>
          </p:nvSpPr>
          <p:spPr>
            <a:xfrm>
              <a:off x="0" y="0"/>
              <a:ext cx="8191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F43F5E"/>
                  </a:solidFill>
                  <a:latin typeface="Inter SemiBold"/>
                  <a:ea typeface="Inter SemiBold"/>
                  <a:cs typeface="Inter SemiBold"/>
                  <a:sym typeface="Inter SemiBold"/>
                </a:rPr>
                <a:t>Strategic Urgency: The Cost of Inaction</a:t>
              </a:r>
              <a:endParaRPr b="0" sz="1000">
                <a:solidFill>
                  <a:srgbClr val="F43F5E"/>
                </a:solidFill>
                <a:latin typeface="Inter SemiBold"/>
                <a:ea typeface="Inter SemiBold"/>
                <a:cs typeface="Inter SemiBold"/>
                <a:sym typeface="Inter SemiBold"/>
              </a:endParaRPr>
            </a:p>
          </p:txBody>
        </p:sp>
        <p:sp>
          <p:nvSpPr>
            <p:cNvPr id="96" name="Google Shape;96;p15"/>
            <p:cNvSpPr txBox="1"/>
            <p:nvPr/>
          </p:nvSpPr>
          <p:spPr>
            <a:xfrm>
              <a:off x="0" y="209550"/>
              <a:ext cx="81915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000">
                  <a:solidFill>
                    <a:srgbClr val="FFFFFF"/>
                  </a:solidFill>
                  <a:latin typeface="Inter"/>
                  <a:ea typeface="Inter"/>
                  <a:cs typeface="Inter"/>
                  <a:sym typeface="Inter"/>
                </a:rPr>
                <a:t>Why Legacy Collections Demand Immediate Transformation</a:t>
              </a:r>
              <a:endParaRPr b="1" sz="2000">
                <a:solidFill>
                  <a:srgbClr val="FFFFFF"/>
                </a:solidFill>
                <a:latin typeface="Inter"/>
                <a:ea typeface="Inter"/>
                <a:cs typeface="Inter"/>
                <a:sym typeface="Inter"/>
              </a:endParaRPr>
            </a:p>
          </p:txBody>
        </p:sp>
      </p:grpSp>
      <p:grpSp>
        <p:nvGrpSpPr>
          <p:cNvPr id="97" name="Google Shape;97;p15"/>
          <p:cNvGrpSpPr/>
          <p:nvPr/>
        </p:nvGrpSpPr>
        <p:grpSpPr>
          <a:xfrm>
            <a:off x="476250" y="1095375"/>
            <a:ext cx="2533800" cy="3571800"/>
            <a:chOff x="0" y="0"/>
            <a:chExt cx="2533800" cy="3571800"/>
          </a:xfrm>
        </p:grpSpPr>
        <p:sp>
          <p:nvSpPr>
            <p:cNvPr id="98" name="Google Shape;98;p15"/>
            <p:cNvSpPr/>
            <p:nvPr/>
          </p:nvSpPr>
          <p:spPr>
            <a:xfrm>
              <a:off x="0" y="0"/>
              <a:ext cx="2533800" cy="3571800"/>
            </a:xfrm>
            <a:prstGeom prst="roundRect">
              <a:avLst>
                <a:gd fmla="val 3759" name="adj"/>
              </a:avLst>
            </a:prstGeom>
            <a:solidFill>
              <a:srgbClr val="1E293B"/>
            </a:solidFill>
            <a:ln cap="flat" cmpd="sng" w="14300">
              <a:solidFill>
                <a:srgbClr val="F43F5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 name="Google Shape;99;p15"/>
            <p:cNvSpPr/>
            <p:nvPr/>
          </p:nvSpPr>
          <p:spPr>
            <a:xfrm>
              <a:off x="0" y="0"/>
              <a:ext cx="2533800" cy="47700"/>
            </a:xfrm>
            <a:prstGeom prst="roundRect">
              <a:avLst>
                <a:gd fmla="val 40000" name="adj"/>
              </a:avLst>
            </a:prstGeom>
            <a:solidFill>
              <a:srgbClr val="F43F5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00" name="Google Shape;100;p15"/>
            <p:cNvGrpSpPr/>
            <p:nvPr/>
          </p:nvGrpSpPr>
          <p:grpSpPr>
            <a:xfrm>
              <a:off x="742950" y="190500"/>
              <a:ext cx="1047900" cy="228600"/>
              <a:chOff x="0" y="0"/>
              <a:chExt cx="1047900" cy="228600"/>
            </a:xfrm>
          </p:grpSpPr>
          <p:sp>
            <p:nvSpPr>
              <p:cNvPr id="101" name="Google Shape;101;p15"/>
              <p:cNvSpPr/>
              <p:nvPr/>
            </p:nvSpPr>
            <p:spPr>
              <a:xfrm>
                <a:off x="0" y="0"/>
                <a:ext cx="1047900" cy="228600"/>
              </a:xfrm>
              <a:prstGeom prst="roundRect">
                <a:avLst>
                  <a:gd fmla="val 50000" name="adj"/>
                </a:avLst>
              </a:prstGeom>
              <a:solidFill>
                <a:srgbClr val="F43F5E">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 name="Google Shape;102;p15"/>
              <p:cNvSpPr txBox="1"/>
              <p:nvPr/>
            </p:nvSpPr>
            <p:spPr>
              <a:xfrm>
                <a:off x="0" y="0"/>
                <a:ext cx="10479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FB7185"/>
                    </a:solidFill>
                    <a:latin typeface="Inter"/>
                    <a:ea typeface="Inter"/>
                    <a:cs typeface="Inter"/>
                    <a:sym typeface="Inter"/>
                  </a:rPr>
                  <a:t>Financial Risk</a:t>
                </a:r>
                <a:endParaRPr b="1" sz="850">
                  <a:solidFill>
                    <a:srgbClr val="FB7185"/>
                  </a:solidFill>
                  <a:latin typeface="Inter"/>
                  <a:ea typeface="Inter"/>
                  <a:cs typeface="Inter"/>
                  <a:sym typeface="Inter"/>
                </a:endParaRPr>
              </a:p>
            </p:txBody>
          </p:sp>
        </p:grpSp>
        <p:grpSp>
          <p:nvGrpSpPr>
            <p:cNvPr id="103" name="Google Shape;103;p15"/>
            <p:cNvGrpSpPr/>
            <p:nvPr/>
          </p:nvGrpSpPr>
          <p:grpSpPr>
            <a:xfrm>
              <a:off x="152400" y="552450"/>
              <a:ext cx="2229000" cy="838200"/>
              <a:chOff x="0" y="0"/>
              <a:chExt cx="2229000" cy="838200"/>
            </a:xfrm>
          </p:grpSpPr>
          <p:sp>
            <p:nvSpPr>
              <p:cNvPr id="104" name="Google Shape;104;p15"/>
              <p:cNvSpPr/>
              <p:nvPr/>
            </p:nvSpPr>
            <p:spPr>
              <a:xfrm>
                <a:off x="0" y="0"/>
                <a:ext cx="2229000" cy="838200"/>
              </a:xfrm>
              <a:prstGeom prst="roundRect">
                <a:avLst>
                  <a:gd fmla="val 9090" name="adj"/>
                </a:avLst>
              </a:prstGeom>
              <a:solidFill>
                <a:srgbClr val="0F172A">
                  <a:alpha val="9000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 name="Google Shape;105;p15"/>
              <p:cNvSpPr txBox="1"/>
              <p:nvPr/>
            </p:nvSpPr>
            <p:spPr>
              <a:xfrm>
                <a:off x="133350" y="95250"/>
                <a:ext cx="19623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800">
                    <a:solidFill>
                      <a:srgbClr val="F43F5E"/>
                    </a:solidFill>
                    <a:latin typeface="Inter ExtraBold"/>
                    <a:ea typeface="Inter ExtraBold"/>
                    <a:cs typeface="Inter ExtraBold"/>
                    <a:sym typeface="Inter ExtraBold"/>
                  </a:rPr>
                  <a:t>High Leakage</a:t>
                </a:r>
                <a:endParaRPr b="0" sz="1800">
                  <a:solidFill>
                    <a:srgbClr val="F43F5E"/>
                  </a:solidFill>
                  <a:latin typeface="Inter ExtraBold"/>
                  <a:ea typeface="Inter ExtraBold"/>
                  <a:cs typeface="Inter ExtraBold"/>
                  <a:sym typeface="Inter ExtraBold"/>
                </a:endParaRPr>
              </a:p>
            </p:txBody>
          </p:sp>
          <p:sp>
            <p:nvSpPr>
              <p:cNvPr id="106" name="Google Shape;106;p15"/>
              <p:cNvSpPr txBox="1"/>
              <p:nvPr/>
            </p:nvSpPr>
            <p:spPr>
              <a:xfrm>
                <a:off x="133350" y="400050"/>
                <a:ext cx="1962300" cy="362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800">
                    <a:solidFill>
                      <a:srgbClr val="CBD5E1"/>
                    </a:solidFill>
                    <a:latin typeface="Inter Medium"/>
                    <a:ea typeface="Inter Medium"/>
                    <a:cs typeface="Inter Medium"/>
                    <a:sym typeface="Inter Medium"/>
                  </a:rPr>
                  <a:t>Direct revenue loss from delayed debt recovery and uncollected accounts</a:t>
                </a:r>
                <a:endParaRPr b="0" sz="800">
                  <a:solidFill>
                    <a:srgbClr val="CBD5E1"/>
                  </a:solidFill>
                  <a:latin typeface="Inter Medium"/>
                  <a:ea typeface="Inter Medium"/>
                  <a:cs typeface="Inter Medium"/>
                  <a:sym typeface="Inter Medium"/>
                </a:endParaRPr>
              </a:p>
            </p:txBody>
          </p:sp>
        </p:grpSp>
        <p:sp>
          <p:nvSpPr>
            <p:cNvPr id="107" name="Google Shape;107;p15"/>
            <p:cNvSpPr txBox="1"/>
            <p:nvPr/>
          </p:nvSpPr>
          <p:spPr>
            <a:xfrm>
              <a:off x="190500" y="1524000"/>
              <a:ext cx="2152800" cy="18573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900">
                  <a:solidFill>
                    <a:srgbClr val="94A3B8"/>
                  </a:solidFill>
                  <a:latin typeface="Inter"/>
                  <a:ea typeface="Inter"/>
                  <a:cs typeface="Inter"/>
                  <a:sym typeface="Inter"/>
                </a:rPr>
                <a:t>Fragmented collection channels and manual outreach lead to missed collections and operational confusion. Without automated self-service payment flows, the bank continuously leaks revenue every billing cycle.</a:t>
              </a:r>
              <a:endParaRPr b="0" sz="900">
                <a:solidFill>
                  <a:srgbClr val="94A3B8"/>
                </a:solidFill>
                <a:latin typeface="Inter"/>
                <a:ea typeface="Inter"/>
                <a:cs typeface="Inter"/>
                <a:sym typeface="Inter"/>
              </a:endParaRPr>
            </a:p>
          </p:txBody>
        </p:sp>
      </p:grpSp>
      <p:grpSp>
        <p:nvGrpSpPr>
          <p:cNvPr id="108" name="Google Shape;108;p15"/>
          <p:cNvGrpSpPr/>
          <p:nvPr/>
        </p:nvGrpSpPr>
        <p:grpSpPr>
          <a:xfrm>
            <a:off x="3295650" y="1095375"/>
            <a:ext cx="2533800" cy="3571800"/>
            <a:chOff x="0" y="0"/>
            <a:chExt cx="2533800" cy="3571800"/>
          </a:xfrm>
        </p:grpSpPr>
        <p:sp>
          <p:nvSpPr>
            <p:cNvPr id="109" name="Google Shape;109;p15"/>
            <p:cNvSpPr/>
            <p:nvPr/>
          </p:nvSpPr>
          <p:spPr>
            <a:xfrm>
              <a:off x="0" y="0"/>
              <a:ext cx="2533800" cy="3571800"/>
            </a:xfrm>
            <a:prstGeom prst="roundRect">
              <a:avLst>
                <a:gd fmla="val 3758" name="adj"/>
              </a:avLst>
            </a:prstGeom>
            <a:solidFill>
              <a:srgbClr val="1E293B"/>
            </a:solidFill>
            <a:ln cap="flat" cmpd="sng" w="14300">
              <a:solidFill>
                <a:srgbClr val="F43F5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 name="Google Shape;110;p15"/>
            <p:cNvSpPr/>
            <p:nvPr/>
          </p:nvSpPr>
          <p:spPr>
            <a:xfrm>
              <a:off x="0" y="0"/>
              <a:ext cx="2533800" cy="47700"/>
            </a:xfrm>
            <a:prstGeom prst="roundRect">
              <a:avLst>
                <a:gd fmla="val 40000" name="adj"/>
              </a:avLst>
            </a:prstGeom>
            <a:solidFill>
              <a:srgbClr val="F43F5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1" name="Google Shape;111;p15"/>
            <p:cNvGrpSpPr/>
            <p:nvPr/>
          </p:nvGrpSpPr>
          <p:grpSpPr>
            <a:xfrm>
              <a:off x="704850" y="190500"/>
              <a:ext cx="1124100" cy="228600"/>
              <a:chOff x="0" y="0"/>
              <a:chExt cx="1124100" cy="228600"/>
            </a:xfrm>
          </p:grpSpPr>
          <p:sp>
            <p:nvSpPr>
              <p:cNvPr id="112" name="Google Shape;112;p15"/>
              <p:cNvSpPr/>
              <p:nvPr/>
            </p:nvSpPr>
            <p:spPr>
              <a:xfrm>
                <a:off x="0" y="0"/>
                <a:ext cx="1124100" cy="228600"/>
              </a:xfrm>
              <a:prstGeom prst="roundRect">
                <a:avLst>
                  <a:gd fmla="val 50000" name="adj"/>
                </a:avLst>
              </a:prstGeom>
              <a:solidFill>
                <a:srgbClr val="F43F5E">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p15"/>
              <p:cNvSpPr txBox="1"/>
              <p:nvPr/>
            </p:nvSpPr>
            <p:spPr>
              <a:xfrm>
                <a:off x="0" y="0"/>
                <a:ext cx="11241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FB7185"/>
                    </a:solidFill>
                    <a:latin typeface="Inter"/>
                    <a:ea typeface="Inter"/>
                    <a:cs typeface="Inter"/>
                    <a:sym typeface="Inter"/>
                  </a:rPr>
                  <a:t>Operational Risk</a:t>
                </a:r>
                <a:endParaRPr b="1" sz="850">
                  <a:solidFill>
                    <a:srgbClr val="FB7185"/>
                  </a:solidFill>
                  <a:latin typeface="Inter"/>
                  <a:ea typeface="Inter"/>
                  <a:cs typeface="Inter"/>
                  <a:sym typeface="Inter"/>
                </a:endParaRPr>
              </a:p>
            </p:txBody>
          </p:sp>
        </p:grpSp>
        <p:sp>
          <p:nvSpPr>
            <p:cNvPr id="114" name="Google Shape;114;p15"/>
            <p:cNvSpPr txBox="1"/>
            <p:nvPr/>
          </p:nvSpPr>
          <p:spPr>
            <a:xfrm>
              <a:off x="190500" y="1524000"/>
              <a:ext cx="2152800" cy="18573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900">
                  <a:solidFill>
                    <a:srgbClr val="94A3B8"/>
                  </a:solidFill>
                  <a:latin typeface="Inter"/>
                  <a:ea typeface="Inter"/>
                  <a:cs typeface="Inter"/>
                  <a:sym typeface="Inter"/>
                </a:rPr>
                <a:t>Isolated teams rely on localized workarounds, custom spreadsheets, and disparate tools to handle collection queues. These fragmented operational silos prevent scaling, inflate overhead staffing costs, and create severe operational bottlenecks as account volumes grow.</a:t>
              </a:r>
              <a:endParaRPr b="0" sz="900">
                <a:solidFill>
                  <a:srgbClr val="94A3B8"/>
                </a:solidFill>
                <a:latin typeface="Inter"/>
                <a:ea typeface="Inter"/>
                <a:cs typeface="Inter"/>
                <a:sym typeface="Inter"/>
              </a:endParaRPr>
            </a:p>
          </p:txBody>
        </p:sp>
      </p:grpSp>
      <p:grpSp>
        <p:nvGrpSpPr>
          <p:cNvPr id="115" name="Google Shape;115;p15"/>
          <p:cNvGrpSpPr/>
          <p:nvPr/>
        </p:nvGrpSpPr>
        <p:grpSpPr>
          <a:xfrm>
            <a:off x="6115050" y="1095375"/>
            <a:ext cx="2533800" cy="3571800"/>
            <a:chOff x="0" y="0"/>
            <a:chExt cx="2533800" cy="3571800"/>
          </a:xfrm>
        </p:grpSpPr>
        <p:sp>
          <p:nvSpPr>
            <p:cNvPr id="116" name="Google Shape;116;p15"/>
            <p:cNvSpPr/>
            <p:nvPr/>
          </p:nvSpPr>
          <p:spPr>
            <a:xfrm>
              <a:off x="0" y="0"/>
              <a:ext cx="2533800" cy="3571800"/>
            </a:xfrm>
            <a:prstGeom prst="roundRect">
              <a:avLst>
                <a:gd fmla="val 3758" name="adj"/>
              </a:avLst>
            </a:prstGeom>
            <a:solidFill>
              <a:srgbClr val="1E293B"/>
            </a:solidFill>
            <a:ln cap="flat" cmpd="sng" w="14300">
              <a:solidFill>
                <a:srgbClr val="F43F5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 name="Google Shape;117;p15"/>
            <p:cNvSpPr/>
            <p:nvPr/>
          </p:nvSpPr>
          <p:spPr>
            <a:xfrm>
              <a:off x="0" y="0"/>
              <a:ext cx="2533800" cy="47700"/>
            </a:xfrm>
            <a:prstGeom prst="roundRect">
              <a:avLst>
                <a:gd fmla="val 40000" name="adj"/>
              </a:avLst>
            </a:prstGeom>
            <a:solidFill>
              <a:srgbClr val="F43F5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8" name="Google Shape;118;p15"/>
            <p:cNvGrpSpPr/>
            <p:nvPr/>
          </p:nvGrpSpPr>
          <p:grpSpPr>
            <a:xfrm>
              <a:off x="647700" y="190500"/>
              <a:ext cx="1238400" cy="228600"/>
              <a:chOff x="0" y="0"/>
              <a:chExt cx="1238400" cy="228600"/>
            </a:xfrm>
          </p:grpSpPr>
          <p:sp>
            <p:nvSpPr>
              <p:cNvPr id="119" name="Google Shape;119;p15"/>
              <p:cNvSpPr/>
              <p:nvPr/>
            </p:nvSpPr>
            <p:spPr>
              <a:xfrm>
                <a:off x="0" y="0"/>
                <a:ext cx="1238400" cy="228600"/>
              </a:xfrm>
              <a:prstGeom prst="roundRect">
                <a:avLst>
                  <a:gd fmla="val 50000" name="adj"/>
                </a:avLst>
              </a:prstGeom>
              <a:solidFill>
                <a:srgbClr val="F43F5E">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5"/>
              <p:cNvSpPr txBox="1"/>
              <p:nvPr/>
            </p:nvSpPr>
            <p:spPr>
              <a:xfrm>
                <a:off x="0" y="0"/>
                <a:ext cx="12384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FB7185"/>
                    </a:solidFill>
                    <a:latin typeface="Inter"/>
                    <a:ea typeface="Inter"/>
                    <a:cs typeface="Inter"/>
                    <a:sym typeface="Inter"/>
                  </a:rPr>
                  <a:t>Governance Failure</a:t>
                </a:r>
                <a:endParaRPr b="1" sz="850">
                  <a:solidFill>
                    <a:srgbClr val="FB7185"/>
                  </a:solidFill>
                  <a:latin typeface="Inter"/>
                  <a:ea typeface="Inter"/>
                  <a:cs typeface="Inter"/>
                  <a:sym typeface="Inter"/>
                </a:endParaRPr>
              </a:p>
            </p:txBody>
          </p:sp>
        </p:grpSp>
        <p:sp>
          <p:nvSpPr>
            <p:cNvPr id="121" name="Google Shape;121;p15"/>
            <p:cNvSpPr txBox="1"/>
            <p:nvPr/>
          </p:nvSpPr>
          <p:spPr>
            <a:xfrm>
              <a:off x="190500" y="1524000"/>
              <a:ext cx="2152800" cy="18573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900">
                  <a:solidFill>
                    <a:srgbClr val="94A3B8"/>
                  </a:solidFill>
                  <a:latin typeface="Inter"/>
                  <a:ea typeface="Inter"/>
                  <a:cs typeface="Inter"/>
                  <a:sym typeface="Inter"/>
                </a:rPr>
                <a:t>Disjointed customer data sources and manual interaction logging leave compliance and audit teams severely blindfolded. The lack of a centralized data repository creates immense regulatory exposure, audit penalties, and zero end-to-end visibility across the recovery lifecycle.</a:t>
              </a:r>
              <a:endParaRPr b="0" sz="900">
                <a:solidFill>
                  <a:srgbClr val="94A3B8"/>
                </a:solidFill>
                <a:latin typeface="Inter"/>
                <a:ea typeface="Inter"/>
                <a:cs typeface="Inter"/>
                <a:sym typeface="Inter"/>
              </a:endParaRPr>
            </a:p>
          </p:txBody>
        </p:sp>
      </p:grpSp>
      <p:grpSp>
        <p:nvGrpSpPr>
          <p:cNvPr id="122" name="Google Shape;122;p15"/>
          <p:cNvGrpSpPr/>
          <p:nvPr/>
        </p:nvGrpSpPr>
        <p:grpSpPr>
          <a:xfrm>
            <a:off x="3448050" y="1647825"/>
            <a:ext cx="2229000" cy="838200"/>
            <a:chOff x="0" y="0"/>
            <a:chExt cx="2229000" cy="838200"/>
          </a:xfrm>
        </p:grpSpPr>
        <p:sp>
          <p:nvSpPr>
            <p:cNvPr id="123" name="Google Shape;123;p15"/>
            <p:cNvSpPr/>
            <p:nvPr/>
          </p:nvSpPr>
          <p:spPr>
            <a:xfrm>
              <a:off x="0" y="0"/>
              <a:ext cx="2229000" cy="838200"/>
            </a:xfrm>
            <a:prstGeom prst="roundRect">
              <a:avLst>
                <a:gd fmla="val 9090" name="adj"/>
              </a:avLst>
            </a:prstGeom>
            <a:solidFill>
              <a:srgbClr val="0F172A">
                <a:alpha val="9000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15"/>
            <p:cNvSpPr txBox="1"/>
            <p:nvPr/>
          </p:nvSpPr>
          <p:spPr>
            <a:xfrm>
              <a:off x="133350" y="95250"/>
              <a:ext cx="19623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800">
                  <a:solidFill>
                    <a:srgbClr val="F43F5E"/>
                  </a:solidFill>
                  <a:latin typeface="Inter ExtraBold"/>
                  <a:ea typeface="Inter ExtraBold"/>
                  <a:cs typeface="Inter ExtraBold"/>
                  <a:sym typeface="Inter ExtraBold"/>
                </a:rPr>
                <a:t>High Friction</a:t>
              </a:r>
              <a:endParaRPr b="0" sz="1800">
                <a:solidFill>
                  <a:srgbClr val="F43F5E"/>
                </a:solidFill>
                <a:latin typeface="Inter ExtraBold"/>
                <a:ea typeface="Inter ExtraBold"/>
                <a:cs typeface="Inter ExtraBold"/>
                <a:sym typeface="Inter ExtraBold"/>
              </a:endParaRPr>
            </a:p>
          </p:txBody>
        </p:sp>
        <p:sp>
          <p:nvSpPr>
            <p:cNvPr id="125" name="Google Shape;125;p15"/>
            <p:cNvSpPr txBox="1"/>
            <p:nvPr/>
          </p:nvSpPr>
          <p:spPr>
            <a:xfrm>
              <a:off x="133350" y="400050"/>
              <a:ext cx="1962300" cy="362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740">
                  <a:solidFill>
                    <a:srgbClr val="CBD5E1"/>
                  </a:solidFill>
                  <a:latin typeface="Inter Medium"/>
                  <a:ea typeface="Inter Medium"/>
                  <a:cs typeface="Inter Medium"/>
                  <a:sym typeface="Inter Medium"/>
                </a:rPr>
                <a:t>Fragmented tools and custom spreadsheets creating operational bottlenecks</a:t>
              </a:r>
              <a:endParaRPr b="0" sz="740">
                <a:solidFill>
                  <a:srgbClr val="CBD5E1"/>
                </a:solidFill>
                <a:latin typeface="Inter Medium"/>
                <a:ea typeface="Inter Medium"/>
                <a:cs typeface="Inter Medium"/>
                <a:sym typeface="Inter Medium"/>
              </a:endParaRPr>
            </a:p>
          </p:txBody>
        </p:sp>
      </p:grpSp>
      <p:grpSp>
        <p:nvGrpSpPr>
          <p:cNvPr id="126" name="Google Shape;126;p15"/>
          <p:cNvGrpSpPr/>
          <p:nvPr/>
        </p:nvGrpSpPr>
        <p:grpSpPr>
          <a:xfrm>
            <a:off x="6267450" y="1647825"/>
            <a:ext cx="2229000" cy="838200"/>
            <a:chOff x="0" y="0"/>
            <a:chExt cx="2229000" cy="838200"/>
          </a:xfrm>
        </p:grpSpPr>
        <p:sp>
          <p:nvSpPr>
            <p:cNvPr id="127" name="Google Shape;127;p15"/>
            <p:cNvSpPr/>
            <p:nvPr/>
          </p:nvSpPr>
          <p:spPr>
            <a:xfrm>
              <a:off x="0" y="0"/>
              <a:ext cx="2229000" cy="838200"/>
            </a:xfrm>
            <a:prstGeom prst="roundRect">
              <a:avLst>
                <a:gd fmla="val 9090" name="adj"/>
              </a:avLst>
            </a:prstGeom>
            <a:solidFill>
              <a:srgbClr val="0F172A">
                <a:alpha val="9000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 name="Google Shape;128;p15"/>
            <p:cNvSpPr txBox="1"/>
            <p:nvPr/>
          </p:nvSpPr>
          <p:spPr>
            <a:xfrm>
              <a:off x="133350" y="95250"/>
              <a:ext cx="19623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800">
                  <a:solidFill>
                    <a:srgbClr val="F43F5E"/>
                  </a:solidFill>
                  <a:latin typeface="Inter ExtraBold"/>
                  <a:ea typeface="Inter ExtraBold"/>
                  <a:cs typeface="Inter ExtraBold"/>
                  <a:sym typeface="Inter ExtraBold"/>
                </a:rPr>
                <a:t>Severe Exposure</a:t>
              </a:r>
              <a:endParaRPr b="0" sz="1800">
                <a:solidFill>
                  <a:srgbClr val="F43F5E"/>
                </a:solidFill>
                <a:latin typeface="Inter ExtraBold"/>
                <a:ea typeface="Inter ExtraBold"/>
                <a:cs typeface="Inter ExtraBold"/>
                <a:sym typeface="Inter ExtraBold"/>
              </a:endParaRPr>
            </a:p>
          </p:txBody>
        </p:sp>
        <p:sp>
          <p:nvSpPr>
            <p:cNvPr id="129" name="Google Shape;129;p15"/>
            <p:cNvSpPr txBox="1"/>
            <p:nvPr/>
          </p:nvSpPr>
          <p:spPr>
            <a:xfrm>
              <a:off x="133350" y="400050"/>
              <a:ext cx="1962300" cy="362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740">
                  <a:solidFill>
                    <a:srgbClr val="CBD5E1"/>
                  </a:solidFill>
                  <a:latin typeface="Inter Medium"/>
                  <a:ea typeface="Inter Medium"/>
                  <a:cs typeface="Inter Medium"/>
                  <a:sym typeface="Inter Medium"/>
                </a:rPr>
                <a:t>Disjointed customer data sources causing compliance &amp; regulatory blindspots</a:t>
              </a:r>
              <a:endParaRPr b="0" sz="740">
                <a:solidFill>
                  <a:srgbClr val="CBD5E1"/>
                </a:solidFill>
                <a:latin typeface="Inter Medium"/>
                <a:ea typeface="Inter Medium"/>
                <a:cs typeface="Inter Medium"/>
                <a:sym typeface="Inter Medium"/>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33" name="Shape 133"/>
        <p:cNvGrpSpPr/>
        <p:nvPr/>
      </p:nvGrpSpPr>
      <p:grpSpPr>
        <a:xfrm>
          <a:off x="0" y="0"/>
          <a:ext cx="0" cy="0"/>
          <a:chOff x="0" y="0"/>
          <a:chExt cx="0" cy="0"/>
        </a:xfrm>
      </p:grpSpPr>
      <p:grpSp>
        <p:nvGrpSpPr>
          <p:cNvPr id="134" name="Google Shape;134;p16"/>
          <p:cNvGrpSpPr/>
          <p:nvPr/>
        </p:nvGrpSpPr>
        <p:grpSpPr>
          <a:xfrm>
            <a:off x="476250" y="333375"/>
            <a:ext cx="8191500" cy="590550"/>
            <a:chOff x="0" y="0"/>
            <a:chExt cx="8191500" cy="590550"/>
          </a:xfrm>
        </p:grpSpPr>
        <p:sp>
          <p:nvSpPr>
            <p:cNvPr id="135" name="Google Shape;135;p16"/>
            <p:cNvSpPr txBox="1"/>
            <p:nvPr/>
          </p:nvSpPr>
          <p:spPr>
            <a:xfrm>
              <a:off x="0" y="0"/>
              <a:ext cx="8191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38BDF8"/>
                  </a:solidFill>
                  <a:latin typeface="Inter SemiBold"/>
                  <a:ea typeface="Inter SemiBold"/>
                  <a:cs typeface="Inter SemiBold"/>
                  <a:sym typeface="Inter SemiBold"/>
                </a:rPr>
                <a:t>Problem &amp; Solution Overview</a:t>
              </a:r>
              <a:endParaRPr b="0" sz="1000">
                <a:solidFill>
                  <a:srgbClr val="38BDF8"/>
                </a:solidFill>
                <a:latin typeface="Inter SemiBold"/>
                <a:ea typeface="Inter SemiBold"/>
                <a:cs typeface="Inter SemiBold"/>
                <a:sym typeface="Inter SemiBold"/>
              </a:endParaRPr>
            </a:p>
          </p:txBody>
        </p:sp>
        <p:sp>
          <p:nvSpPr>
            <p:cNvPr id="136" name="Google Shape;136;p16"/>
            <p:cNvSpPr txBox="1"/>
            <p:nvPr/>
          </p:nvSpPr>
          <p:spPr>
            <a:xfrm>
              <a:off x="0" y="209550"/>
              <a:ext cx="81915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50">
                  <a:solidFill>
                    <a:srgbClr val="FFFFFF"/>
                  </a:solidFill>
                  <a:latin typeface="Inter"/>
                  <a:ea typeface="Inter"/>
                  <a:cs typeface="Inter"/>
                  <a:sym typeface="Inter"/>
                </a:rPr>
                <a:t>Identified Pain Points &amp; Solution ROI</a:t>
              </a:r>
              <a:endParaRPr b="1" sz="1850">
                <a:solidFill>
                  <a:srgbClr val="FFFFFF"/>
                </a:solidFill>
                <a:latin typeface="Inter"/>
                <a:ea typeface="Inter"/>
                <a:cs typeface="Inter"/>
                <a:sym typeface="Inter"/>
              </a:endParaRPr>
            </a:p>
          </p:txBody>
        </p:sp>
      </p:grpSp>
      <p:grpSp>
        <p:nvGrpSpPr>
          <p:cNvPr id="137" name="Google Shape;137;p16"/>
          <p:cNvGrpSpPr/>
          <p:nvPr/>
        </p:nvGrpSpPr>
        <p:grpSpPr>
          <a:xfrm>
            <a:off x="476250" y="1000125"/>
            <a:ext cx="4191000" cy="3667200"/>
            <a:chOff x="0" y="0"/>
            <a:chExt cx="4191000" cy="3667200"/>
          </a:xfrm>
        </p:grpSpPr>
        <p:sp>
          <p:nvSpPr>
            <p:cNvPr id="138" name="Google Shape;138;p16"/>
            <p:cNvSpPr/>
            <p:nvPr/>
          </p:nvSpPr>
          <p:spPr>
            <a:xfrm>
              <a:off x="0" y="0"/>
              <a:ext cx="4191000" cy="3667200"/>
            </a:xfrm>
            <a:prstGeom prst="roundRect">
              <a:avLst>
                <a:gd fmla="val 2597"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 name="Google Shape;139;p16"/>
            <p:cNvSpPr/>
            <p:nvPr/>
          </p:nvSpPr>
          <p:spPr>
            <a:xfrm>
              <a:off x="0" y="0"/>
              <a:ext cx="4191000" cy="38100"/>
            </a:xfrm>
            <a:prstGeom prst="roundRect">
              <a:avLst>
                <a:gd fmla="val 50000" name="adj"/>
              </a:avLst>
            </a:prstGeom>
            <a:solidFill>
              <a:srgbClr val="F43F5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 name="Google Shape;140;p16"/>
            <p:cNvSpPr txBox="1"/>
            <p:nvPr/>
          </p:nvSpPr>
          <p:spPr>
            <a:xfrm>
              <a:off x="228600" y="190500"/>
              <a:ext cx="37338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FB7185"/>
                  </a:solidFill>
                  <a:latin typeface="Inter"/>
                  <a:ea typeface="Inter"/>
                  <a:cs typeface="Inter"/>
                  <a:sym typeface="Inter"/>
                </a:rPr>
                <a:t>Key Operational Pain Points</a:t>
              </a:r>
              <a:endParaRPr b="1" sz="1100">
                <a:solidFill>
                  <a:srgbClr val="FB7185"/>
                </a:solidFill>
                <a:latin typeface="Inter"/>
                <a:ea typeface="Inter"/>
                <a:cs typeface="Inter"/>
                <a:sym typeface="Inter"/>
              </a:endParaRPr>
            </a:p>
          </p:txBody>
        </p:sp>
        <p:grpSp>
          <p:nvGrpSpPr>
            <p:cNvPr id="141" name="Google Shape;141;p16"/>
            <p:cNvGrpSpPr/>
            <p:nvPr/>
          </p:nvGrpSpPr>
          <p:grpSpPr>
            <a:xfrm>
              <a:off x="228600" y="523875"/>
              <a:ext cx="3733800" cy="419100"/>
              <a:chOff x="0" y="0"/>
              <a:chExt cx="3733800" cy="419100"/>
            </a:xfrm>
          </p:grpSpPr>
          <p:sp>
            <p:nvSpPr>
              <p:cNvPr id="142" name="Google Shape;142;p16"/>
              <p:cNvSpPr/>
              <p:nvPr/>
            </p:nvSpPr>
            <p:spPr>
              <a:xfrm>
                <a:off x="0" y="0"/>
                <a:ext cx="3733800" cy="419100"/>
              </a:xfrm>
              <a:prstGeom prst="roundRect">
                <a:avLst>
                  <a:gd fmla="val 13636"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 name="Google Shape;143;p16"/>
              <p:cNvSpPr/>
              <p:nvPr/>
            </p:nvSpPr>
            <p:spPr>
              <a:xfrm>
                <a:off x="95250" y="114300"/>
                <a:ext cx="190500" cy="190500"/>
              </a:xfrm>
              <a:prstGeom prst="ellipse">
                <a:avLst/>
              </a:prstGeom>
              <a:solidFill>
                <a:srgbClr val="F43F5E">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p16"/>
              <p:cNvSpPr txBox="1"/>
              <p:nvPr/>
            </p:nvSpPr>
            <p:spPr>
              <a:xfrm>
                <a:off x="400050" y="0"/>
                <a:ext cx="3219600" cy="419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 sz="850">
                    <a:solidFill>
                      <a:srgbClr val="E2E8F0"/>
                    </a:solidFill>
                    <a:latin typeface="Inter Medium"/>
                    <a:ea typeface="Inter Medium"/>
                    <a:cs typeface="Inter Medium"/>
                    <a:sym typeface="Inter Medium"/>
                  </a:rPr>
                  <a:t>Update discrepancies from multiple sources of truth &amp; manual logging</a:t>
                </a:r>
                <a:endParaRPr b="0" i="0" sz="850">
                  <a:solidFill>
                    <a:srgbClr val="E2E8F0"/>
                  </a:solidFill>
                  <a:latin typeface="Inter Medium"/>
                  <a:ea typeface="Inter Medium"/>
                  <a:cs typeface="Inter Medium"/>
                  <a:sym typeface="Inter Medium"/>
                </a:endParaRPr>
              </a:p>
            </p:txBody>
          </p:sp>
        </p:grpSp>
        <p:grpSp>
          <p:nvGrpSpPr>
            <p:cNvPr id="145" name="Google Shape;145;p16"/>
            <p:cNvGrpSpPr/>
            <p:nvPr/>
          </p:nvGrpSpPr>
          <p:grpSpPr>
            <a:xfrm>
              <a:off x="228600" y="1019175"/>
              <a:ext cx="3733800" cy="419100"/>
              <a:chOff x="0" y="0"/>
              <a:chExt cx="3733800" cy="419100"/>
            </a:xfrm>
          </p:grpSpPr>
          <p:sp>
            <p:nvSpPr>
              <p:cNvPr id="146" name="Google Shape;146;p16"/>
              <p:cNvSpPr/>
              <p:nvPr/>
            </p:nvSpPr>
            <p:spPr>
              <a:xfrm>
                <a:off x="0" y="0"/>
                <a:ext cx="3733800" cy="419100"/>
              </a:xfrm>
              <a:prstGeom prst="roundRect">
                <a:avLst>
                  <a:gd fmla="val 13636"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 name="Google Shape;147;p16"/>
              <p:cNvSpPr/>
              <p:nvPr/>
            </p:nvSpPr>
            <p:spPr>
              <a:xfrm>
                <a:off x="95250" y="114300"/>
                <a:ext cx="190500" cy="190500"/>
              </a:xfrm>
              <a:prstGeom prst="ellipse">
                <a:avLst/>
              </a:prstGeom>
              <a:solidFill>
                <a:srgbClr val="F43F5E">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 name="Google Shape;148;p16"/>
              <p:cNvSpPr txBox="1"/>
              <p:nvPr/>
            </p:nvSpPr>
            <p:spPr>
              <a:xfrm>
                <a:off x="400050" y="0"/>
                <a:ext cx="3219600" cy="419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 sz="850">
                    <a:solidFill>
                      <a:srgbClr val="E2E8F0"/>
                    </a:solidFill>
                    <a:latin typeface="Inter Medium"/>
                    <a:ea typeface="Inter Medium"/>
                    <a:cs typeface="Inter Medium"/>
                    <a:sym typeface="Inter Medium"/>
                  </a:rPr>
                  <a:t>Broken arrangements and re-contact on already promised accounts</a:t>
                </a:r>
                <a:endParaRPr b="0" i="0" sz="850">
                  <a:solidFill>
                    <a:srgbClr val="E2E8F0"/>
                  </a:solidFill>
                  <a:latin typeface="Inter Medium"/>
                  <a:ea typeface="Inter Medium"/>
                  <a:cs typeface="Inter Medium"/>
                  <a:sym typeface="Inter Medium"/>
                </a:endParaRPr>
              </a:p>
            </p:txBody>
          </p:sp>
        </p:grpSp>
        <p:grpSp>
          <p:nvGrpSpPr>
            <p:cNvPr id="149" name="Google Shape;149;p16"/>
            <p:cNvGrpSpPr/>
            <p:nvPr/>
          </p:nvGrpSpPr>
          <p:grpSpPr>
            <a:xfrm>
              <a:off x="228600" y="1514475"/>
              <a:ext cx="3733800" cy="419100"/>
              <a:chOff x="0" y="0"/>
              <a:chExt cx="3733800" cy="419100"/>
            </a:xfrm>
          </p:grpSpPr>
          <p:sp>
            <p:nvSpPr>
              <p:cNvPr id="150" name="Google Shape;150;p16"/>
              <p:cNvSpPr/>
              <p:nvPr/>
            </p:nvSpPr>
            <p:spPr>
              <a:xfrm>
                <a:off x="0" y="0"/>
                <a:ext cx="3733800" cy="419100"/>
              </a:xfrm>
              <a:prstGeom prst="roundRect">
                <a:avLst>
                  <a:gd fmla="val 13636"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 name="Google Shape;151;p16"/>
              <p:cNvSpPr/>
              <p:nvPr/>
            </p:nvSpPr>
            <p:spPr>
              <a:xfrm>
                <a:off x="95250" y="114300"/>
                <a:ext cx="190500" cy="190500"/>
              </a:xfrm>
              <a:prstGeom prst="ellipse">
                <a:avLst/>
              </a:prstGeom>
              <a:solidFill>
                <a:srgbClr val="F43F5E">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 name="Google Shape;152;p16"/>
              <p:cNvSpPr txBox="1"/>
              <p:nvPr/>
            </p:nvSpPr>
            <p:spPr>
              <a:xfrm>
                <a:off x="400050" y="0"/>
                <a:ext cx="3219600" cy="419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 sz="850">
                    <a:solidFill>
                      <a:srgbClr val="E2E8F0"/>
                    </a:solidFill>
                    <a:latin typeface="Inter Medium"/>
                    <a:ea typeface="Inter Medium"/>
                    <a:cs typeface="Inter Medium"/>
                    <a:sym typeface="Inter Medium"/>
                  </a:rPr>
                  <a:t>No automatic payment fulfillment check</a:t>
                </a:r>
                <a:endParaRPr b="0" i="0" sz="850">
                  <a:solidFill>
                    <a:srgbClr val="E2E8F0"/>
                  </a:solidFill>
                  <a:latin typeface="Inter Medium"/>
                  <a:ea typeface="Inter Medium"/>
                  <a:cs typeface="Inter Medium"/>
                  <a:sym typeface="Inter Medium"/>
                </a:endParaRPr>
              </a:p>
            </p:txBody>
          </p:sp>
        </p:grpSp>
        <p:grpSp>
          <p:nvGrpSpPr>
            <p:cNvPr id="153" name="Google Shape;153;p16"/>
            <p:cNvGrpSpPr/>
            <p:nvPr/>
          </p:nvGrpSpPr>
          <p:grpSpPr>
            <a:xfrm>
              <a:off x="228600" y="2009775"/>
              <a:ext cx="3733800" cy="419100"/>
              <a:chOff x="0" y="0"/>
              <a:chExt cx="3733800" cy="419100"/>
            </a:xfrm>
          </p:grpSpPr>
          <p:sp>
            <p:nvSpPr>
              <p:cNvPr id="154" name="Google Shape;154;p16"/>
              <p:cNvSpPr/>
              <p:nvPr/>
            </p:nvSpPr>
            <p:spPr>
              <a:xfrm>
                <a:off x="0" y="0"/>
                <a:ext cx="3733800" cy="419100"/>
              </a:xfrm>
              <a:prstGeom prst="roundRect">
                <a:avLst>
                  <a:gd fmla="val 13636"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 name="Google Shape;155;p16"/>
              <p:cNvSpPr/>
              <p:nvPr/>
            </p:nvSpPr>
            <p:spPr>
              <a:xfrm>
                <a:off x="95250" y="114300"/>
                <a:ext cx="190500" cy="190500"/>
              </a:xfrm>
              <a:prstGeom prst="ellipse">
                <a:avLst/>
              </a:prstGeom>
              <a:solidFill>
                <a:srgbClr val="F43F5E">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 name="Google Shape;156;p16"/>
              <p:cNvSpPr txBox="1"/>
              <p:nvPr/>
            </p:nvSpPr>
            <p:spPr>
              <a:xfrm>
                <a:off x="400050" y="0"/>
                <a:ext cx="3219600" cy="419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 sz="850">
                    <a:solidFill>
                      <a:srgbClr val="E2E8F0"/>
                    </a:solidFill>
                    <a:latin typeface="Inter Medium"/>
                    <a:ea typeface="Inter Medium"/>
                    <a:cs typeface="Inter Medium"/>
                    <a:sym typeface="Inter Medium"/>
                  </a:rPr>
                  <a:t>Poor visibility of promise to pay fulfillment</a:t>
                </a:r>
                <a:endParaRPr b="0" i="0" sz="850">
                  <a:solidFill>
                    <a:srgbClr val="E2E8F0"/>
                  </a:solidFill>
                  <a:latin typeface="Inter Medium"/>
                  <a:ea typeface="Inter Medium"/>
                  <a:cs typeface="Inter Medium"/>
                  <a:sym typeface="Inter Medium"/>
                </a:endParaRPr>
              </a:p>
            </p:txBody>
          </p:sp>
        </p:grpSp>
        <p:grpSp>
          <p:nvGrpSpPr>
            <p:cNvPr id="157" name="Google Shape;157;p16"/>
            <p:cNvGrpSpPr/>
            <p:nvPr/>
          </p:nvGrpSpPr>
          <p:grpSpPr>
            <a:xfrm>
              <a:off x="228600" y="2505075"/>
              <a:ext cx="3733800" cy="419100"/>
              <a:chOff x="0" y="0"/>
              <a:chExt cx="3733800" cy="419100"/>
            </a:xfrm>
          </p:grpSpPr>
          <p:sp>
            <p:nvSpPr>
              <p:cNvPr id="158" name="Google Shape;158;p16"/>
              <p:cNvSpPr/>
              <p:nvPr/>
            </p:nvSpPr>
            <p:spPr>
              <a:xfrm>
                <a:off x="0" y="0"/>
                <a:ext cx="3733800" cy="419100"/>
              </a:xfrm>
              <a:prstGeom prst="roundRect">
                <a:avLst>
                  <a:gd fmla="val 13636"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 name="Google Shape;159;p16"/>
              <p:cNvSpPr/>
              <p:nvPr/>
            </p:nvSpPr>
            <p:spPr>
              <a:xfrm>
                <a:off x="95250" y="114300"/>
                <a:ext cx="190500" cy="190500"/>
              </a:xfrm>
              <a:prstGeom prst="ellipse">
                <a:avLst/>
              </a:prstGeom>
              <a:solidFill>
                <a:srgbClr val="F43F5E">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 name="Google Shape;160;p16"/>
              <p:cNvSpPr txBox="1"/>
              <p:nvPr/>
            </p:nvSpPr>
            <p:spPr>
              <a:xfrm>
                <a:off x="400050" y="0"/>
                <a:ext cx="3219600" cy="419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 sz="850">
                    <a:solidFill>
                      <a:srgbClr val="E2E8F0"/>
                    </a:solidFill>
                    <a:latin typeface="Inter Medium"/>
                    <a:ea typeface="Inter Medium"/>
                    <a:cs typeface="Inter Medium"/>
                    <a:sym typeface="Inter Medium"/>
                  </a:rPr>
                  <a:t>Time consuming customer contact attempts</a:t>
                </a:r>
                <a:endParaRPr b="0" i="0" sz="850">
                  <a:solidFill>
                    <a:srgbClr val="E2E8F0"/>
                  </a:solidFill>
                  <a:latin typeface="Inter Medium"/>
                  <a:ea typeface="Inter Medium"/>
                  <a:cs typeface="Inter Medium"/>
                  <a:sym typeface="Inter Medium"/>
                </a:endParaRPr>
              </a:p>
            </p:txBody>
          </p:sp>
        </p:grpSp>
        <p:grpSp>
          <p:nvGrpSpPr>
            <p:cNvPr id="161" name="Google Shape;161;p16"/>
            <p:cNvGrpSpPr/>
            <p:nvPr/>
          </p:nvGrpSpPr>
          <p:grpSpPr>
            <a:xfrm>
              <a:off x="228600" y="3000375"/>
              <a:ext cx="3733800" cy="419100"/>
              <a:chOff x="0" y="0"/>
              <a:chExt cx="3733800" cy="419100"/>
            </a:xfrm>
          </p:grpSpPr>
          <p:sp>
            <p:nvSpPr>
              <p:cNvPr id="162" name="Google Shape;162;p16"/>
              <p:cNvSpPr/>
              <p:nvPr/>
            </p:nvSpPr>
            <p:spPr>
              <a:xfrm>
                <a:off x="0" y="0"/>
                <a:ext cx="3733800" cy="419100"/>
              </a:xfrm>
              <a:prstGeom prst="roundRect">
                <a:avLst>
                  <a:gd fmla="val 13636"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 name="Google Shape;163;p16"/>
              <p:cNvSpPr/>
              <p:nvPr/>
            </p:nvSpPr>
            <p:spPr>
              <a:xfrm>
                <a:off x="95250" y="114300"/>
                <a:ext cx="190500" cy="190500"/>
              </a:xfrm>
              <a:prstGeom prst="ellipse">
                <a:avLst/>
              </a:prstGeom>
              <a:solidFill>
                <a:srgbClr val="F43F5E">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 name="Google Shape;164;p16"/>
              <p:cNvSpPr txBox="1"/>
              <p:nvPr/>
            </p:nvSpPr>
            <p:spPr>
              <a:xfrm>
                <a:off x="400050" y="0"/>
                <a:ext cx="3219600" cy="419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 sz="850">
                    <a:solidFill>
                      <a:srgbClr val="E2E8F0"/>
                    </a:solidFill>
                    <a:latin typeface="Inter Medium"/>
                    <a:ea typeface="Inter Medium"/>
                    <a:cs typeface="Inter Medium"/>
                    <a:sym typeface="Inter Medium"/>
                  </a:rPr>
                  <a:t>Inaccurate data undermining reporting and compliance</a:t>
                </a:r>
                <a:endParaRPr b="0" i="0" sz="850">
                  <a:solidFill>
                    <a:srgbClr val="E2E8F0"/>
                  </a:solidFill>
                  <a:latin typeface="Inter Medium"/>
                  <a:ea typeface="Inter Medium"/>
                  <a:cs typeface="Inter Medium"/>
                  <a:sym typeface="Inter Medium"/>
                </a:endParaRPr>
              </a:p>
            </p:txBody>
          </p:sp>
        </p:grpSp>
      </p:grpSp>
      <p:pic>
        <p:nvPicPr>
          <p:cNvPr id="165" name="Google Shape;165;p16"/>
          <p:cNvPicPr preferRelativeResize="0"/>
          <p:nvPr/>
        </p:nvPicPr>
        <p:blipFill rotWithShape="1">
          <a:blip r:embed="rId3">
            <a:alphaModFix/>
          </a:blip>
          <a:srcRect b="0" l="0" r="0" t="0"/>
          <a:stretch/>
        </p:blipFill>
        <p:spPr>
          <a:xfrm>
            <a:off x="4667250" y="2428875"/>
            <a:ext cx="428700" cy="381000"/>
          </a:xfrm>
          <a:prstGeom prst="rect">
            <a:avLst/>
          </a:prstGeom>
          <a:noFill/>
          <a:ln>
            <a:noFill/>
          </a:ln>
        </p:spPr>
      </p:pic>
      <p:grpSp>
        <p:nvGrpSpPr>
          <p:cNvPr id="166" name="Google Shape;166;p16"/>
          <p:cNvGrpSpPr/>
          <p:nvPr/>
        </p:nvGrpSpPr>
        <p:grpSpPr>
          <a:xfrm>
            <a:off x="5143500" y="1000125"/>
            <a:ext cx="3524400" cy="3667200"/>
            <a:chOff x="0" y="0"/>
            <a:chExt cx="3524400" cy="3667200"/>
          </a:xfrm>
        </p:grpSpPr>
        <p:sp>
          <p:nvSpPr>
            <p:cNvPr id="167" name="Google Shape;167;p16"/>
            <p:cNvSpPr/>
            <p:nvPr/>
          </p:nvSpPr>
          <p:spPr>
            <a:xfrm>
              <a:off x="0" y="0"/>
              <a:ext cx="3524400" cy="3667200"/>
            </a:xfrm>
            <a:prstGeom prst="roundRect">
              <a:avLst>
                <a:gd fmla="val 2702" name="adj"/>
              </a:avLst>
            </a:prstGeom>
            <a:solidFill>
              <a:srgbClr val="1E293B"/>
            </a:solidFill>
            <a:ln cap="flat" cmpd="sng" w="14300">
              <a:solidFill>
                <a:srgbClr val="0284C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 name="Google Shape;168;p16"/>
            <p:cNvSpPr/>
            <p:nvPr/>
          </p:nvSpPr>
          <p:spPr>
            <a:xfrm>
              <a:off x="0" y="0"/>
              <a:ext cx="3524400" cy="381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69" name="Google Shape;169;p16"/>
            <p:cNvGrpSpPr/>
            <p:nvPr/>
          </p:nvGrpSpPr>
          <p:grpSpPr>
            <a:xfrm>
              <a:off x="228600" y="228600"/>
              <a:ext cx="3067200" cy="1333500"/>
              <a:chOff x="0" y="0"/>
              <a:chExt cx="3067200" cy="1333500"/>
            </a:xfrm>
          </p:grpSpPr>
          <p:sp>
            <p:nvSpPr>
              <p:cNvPr id="170" name="Google Shape;170;p16"/>
              <p:cNvSpPr txBox="1"/>
              <p:nvPr/>
            </p:nvSpPr>
            <p:spPr>
              <a:xfrm>
                <a:off x="0" y="0"/>
                <a:ext cx="30672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00">
                    <a:solidFill>
                      <a:srgbClr val="38BDF8"/>
                    </a:solidFill>
                    <a:latin typeface="Inter SemiBold"/>
                    <a:ea typeface="Inter SemiBold"/>
                    <a:cs typeface="Inter SemiBold"/>
                    <a:sym typeface="Inter SemiBold"/>
                  </a:rPr>
                  <a:t>HEADLINE PROPOSAL</a:t>
                </a:r>
                <a:endParaRPr b="0" sz="900">
                  <a:solidFill>
                    <a:srgbClr val="38BDF8"/>
                  </a:solidFill>
                  <a:latin typeface="Inter SemiBold"/>
                  <a:ea typeface="Inter SemiBold"/>
                  <a:cs typeface="Inter SemiBold"/>
                  <a:sym typeface="Inter SemiBold"/>
                </a:endParaRPr>
              </a:p>
            </p:txBody>
          </p:sp>
          <p:sp>
            <p:nvSpPr>
              <p:cNvPr id="171" name="Google Shape;171;p16"/>
              <p:cNvSpPr txBox="1"/>
              <p:nvPr/>
            </p:nvSpPr>
            <p:spPr>
              <a:xfrm>
                <a:off x="0" y="228600"/>
                <a:ext cx="30672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FFFFFF"/>
                    </a:solidFill>
                    <a:latin typeface="Inter"/>
                    <a:ea typeface="Inter"/>
                    <a:cs typeface="Inter"/>
                    <a:sym typeface="Inter"/>
                  </a:rPr>
                  <a:t>Self-Serve Customer Portal with Staff Access to Records</a:t>
                </a:r>
                <a:endParaRPr b="1" sz="1300">
                  <a:solidFill>
                    <a:srgbClr val="FFFFFF"/>
                  </a:solidFill>
                  <a:latin typeface="Inter"/>
                  <a:ea typeface="Inter"/>
                  <a:cs typeface="Inter"/>
                  <a:sym typeface="Inter"/>
                </a:endParaRPr>
              </a:p>
            </p:txBody>
          </p:sp>
          <p:sp>
            <p:nvSpPr>
              <p:cNvPr id="172" name="Google Shape;172;p16"/>
              <p:cNvSpPr txBox="1"/>
              <p:nvPr/>
            </p:nvSpPr>
            <p:spPr>
              <a:xfrm>
                <a:off x="0" y="952500"/>
                <a:ext cx="30672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50">
                    <a:solidFill>
                      <a:srgbClr val="94A3B8"/>
                    </a:solidFill>
                    <a:latin typeface="Inter"/>
                    <a:ea typeface="Inter"/>
                    <a:cs typeface="Inter"/>
                    <a:sym typeface="Inter"/>
                  </a:rPr>
                  <a:t>Addresses all identified operational pain points through automated self-service and centralized record access.</a:t>
                </a:r>
                <a:endParaRPr b="0" sz="850">
                  <a:solidFill>
                    <a:srgbClr val="94A3B8"/>
                  </a:solidFill>
                  <a:latin typeface="Inter"/>
                  <a:ea typeface="Inter"/>
                  <a:cs typeface="Inter"/>
                  <a:sym typeface="Inter"/>
                </a:endParaRPr>
              </a:p>
            </p:txBody>
          </p:sp>
        </p:grpSp>
        <p:grpSp>
          <p:nvGrpSpPr>
            <p:cNvPr id="173" name="Google Shape;173;p16"/>
            <p:cNvGrpSpPr/>
            <p:nvPr/>
          </p:nvGrpSpPr>
          <p:grpSpPr>
            <a:xfrm>
              <a:off x="228600" y="1714500"/>
              <a:ext cx="3067200" cy="1714500"/>
              <a:chOff x="0" y="0"/>
              <a:chExt cx="3067200" cy="1714500"/>
            </a:xfrm>
          </p:grpSpPr>
          <p:sp>
            <p:nvSpPr>
              <p:cNvPr id="174" name="Google Shape;174;p16"/>
              <p:cNvSpPr/>
              <p:nvPr/>
            </p:nvSpPr>
            <p:spPr>
              <a:xfrm>
                <a:off x="0" y="0"/>
                <a:ext cx="3067200" cy="1714500"/>
              </a:xfrm>
              <a:prstGeom prst="roundRect">
                <a:avLst>
                  <a:gd fmla="val 4444" name="adj"/>
                </a:avLst>
              </a:prstGeom>
              <a:solidFill>
                <a:srgbClr val="0F172A">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75" name="Google Shape;175;p16"/>
              <p:cNvGrpSpPr/>
              <p:nvPr/>
            </p:nvGrpSpPr>
            <p:grpSpPr>
              <a:xfrm>
                <a:off x="190500" y="190500"/>
                <a:ext cx="2686200" cy="1333500"/>
                <a:chOff x="0" y="0"/>
                <a:chExt cx="2686200" cy="1333500"/>
              </a:xfrm>
            </p:grpSpPr>
            <p:sp>
              <p:nvSpPr>
                <p:cNvPr id="176" name="Google Shape;176;p16"/>
                <p:cNvSpPr txBox="1"/>
                <p:nvPr/>
              </p:nvSpPr>
              <p:spPr>
                <a:xfrm>
                  <a:off x="0" y="0"/>
                  <a:ext cx="2686200" cy="33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000">
                      <a:solidFill>
                        <a:srgbClr val="38BDF8"/>
                      </a:solidFill>
                      <a:latin typeface="Inter"/>
                      <a:ea typeface="Inter"/>
                      <a:cs typeface="Inter"/>
                      <a:sym typeface="Inter"/>
                    </a:rPr>
                    <a:t>£2.3M ROI</a:t>
                  </a:r>
                  <a:endParaRPr b="1" sz="2000">
                    <a:solidFill>
                      <a:srgbClr val="38BDF8"/>
                    </a:solidFill>
                    <a:latin typeface="Inter"/>
                    <a:ea typeface="Inter"/>
                    <a:cs typeface="Inter"/>
                    <a:sym typeface="Inter"/>
                  </a:endParaRPr>
                </a:p>
              </p:txBody>
            </p:sp>
            <p:sp>
              <p:nvSpPr>
                <p:cNvPr id="177" name="Google Shape;177;p16"/>
                <p:cNvSpPr txBox="1"/>
                <p:nvPr/>
              </p:nvSpPr>
              <p:spPr>
                <a:xfrm>
                  <a:off x="0" y="361950"/>
                  <a:ext cx="26862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00">
                      <a:solidFill>
                        <a:srgbClr val="38BDF8"/>
                      </a:solidFill>
                      <a:latin typeface="Inter Medium"/>
                      <a:ea typeface="Inter Medium"/>
                      <a:cs typeface="Inter Medium"/>
                      <a:sym typeface="Inter Medium"/>
                    </a:rPr>
                    <a:t>Estimated Annual Financial Impact</a:t>
                  </a:r>
                  <a:endParaRPr b="0" sz="800">
                    <a:solidFill>
                      <a:srgbClr val="38BDF8"/>
                    </a:solidFill>
                    <a:latin typeface="Inter Medium"/>
                    <a:ea typeface="Inter Medium"/>
                    <a:cs typeface="Inter Medium"/>
                    <a:sym typeface="Inter Medium"/>
                  </a:endParaRPr>
                </a:p>
              </p:txBody>
            </p:sp>
            <p:cxnSp>
              <p:nvCxnSpPr>
                <p:cNvPr id="178" name="Google Shape;178;p16"/>
                <p:cNvCxnSpPr/>
                <p:nvPr/>
              </p:nvCxnSpPr>
              <p:spPr>
                <a:xfrm>
                  <a:off x="0" y="647700"/>
                  <a:ext cx="2686200" cy="0"/>
                </a:xfrm>
                <a:prstGeom prst="straightConnector1">
                  <a:avLst/>
                </a:prstGeom>
                <a:solidFill>
                  <a:srgbClr val="FFFFFF"/>
                </a:solidFill>
                <a:ln cap="flat" cmpd="sng" w="9525">
                  <a:solidFill>
                    <a:srgbClr val="334155"/>
                  </a:solidFill>
                  <a:prstDash val="solid"/>
                  <a:round/>
                  <a:headEnd len="sm" w="sm" type="none"/>
                  <a:tailEnd len="sm" w="sm" type="none"/>
                </a:ln>
              </p:spPr>
            </p:cxnSp>
            <p:sp>
              <p:nvSpPr>
                <p:cNvPr id="179" name="Google Shape;179;p16"/>
                <p:cNvSpPr txBox="1"/>
                <p:nvPr/>
              </p:nvSpPr>
              <p:spPr>
                <a:xfrm>
                  <a:off x="0" y="762000"/>
                  <a:ext cx="26862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50">
                      <a:solidFill>
                        <a:srgbClr val="94A3B8"/>
                      </a:solidFill>
                      <a:latin typeface="Inter"/>
                      <a:ea typeface="Inter"/>
                      <a:cs typeface="Inter"/>
                      <a:sym typeface="Inter"/>
                    </a:rPr>
                    <a:t>• </a:t>
                  </a:r>
                  <a:r>
                    <a:rPr b="1" lang="en" sz="850">
                      <a:solidFill>
                        <a:srgbClr val="94A3B8"/>
                      </a:solidFill>
                      <a:latin typeface="Inter"/>
                      <a:ea typeface="Inter"/>
                      <a:cs typeface="Inter"/>
                      <a:sym typeface="Inter"/>
                    </a:rPr>
                    <a:t>0.065% revenue uplift</a:t>
                  </a:r>
                  <a:r>
                    <a:rPr b="0" lang="en" sz="850">
                      <a:solidFill>
                        <a:srgbClr val="94A3B8"/>
                      </a:solidFill>
                      <a:latin typeface="Inter"/>
                      <a:ea typeface="Inter"/>
                      <a:cs typeface="Inter"/>
                      <a:sym typeface="Inter"/>
                    </a:rPr>
                    <a:t> from reduced missed collections</a:t>
                  </a:r>
                  <a:br>
                    <a:rPr b="0" lang="en" sz="850">
                      <a:solidFill>
                        <a:srgbClr val="94A3B8"/>
                      </a:solidFill>
                      <a:latin typeface="Inter"/>
                      <a:ea typeface="Inter"/>
                      <a:cs typeface="Inter"/>
                      <a:sym typeface="Inter"/>
                    </a:rPr>
                  </a:br>
                  <a:r>
                    <a:rPr b="0" lang="en" sz="850">
                      <a:solidFill>
                        <a:srgbClr val="94A3B8"/>
                      </a:solidFill>
                      <a:latin typeface="Inter"/>
                      <a:ea typeface="Inter"/>
                      <a:cs typeface="Inter"/>
                      <a:sym typeface="Inter"/>
                    </a:rPr>
                    <a:t>• </a:t>
                  </a:r>
                  <a:r>
                    <a:rPr b="1" lang="en" sz="850">
                      <a:solidFill>
                        <a:srgbClr val="94A3B8"/>
                      </a:solidFill>
                      <a:latin typeface="Inter"/>
                      <a:ea typeface="Inter"/>
                      <a:cs typeface="Inter"/>
                      <a:sym typeface="Inter"/>
                    </a:rPr>
                    <a:t>Cost savings on ~40% of cases</a:t>
                  </a:r>
                  <a:r>
                    <a:rPr b="0" lang="en" sz="850">
                      <a:solidFill>
                        <a:srgbClr val="94A3B8"/>
                      </a:solidFill>
                      <a:latin typeface="Inter"/>
                      <a:ea typeface="Inter"/>
                      <a:cs typeface="Inter"/>
                      <a:sym typeface="Inter"/>
                    </a:rPr>
                    <a:t> sorted directly through the new portal</a:t>
                  </a:r>
                  <a:endParaRPr b="0" sz="850">
                    <a:solidFill>
                      <a:srgbClr val="94A3B8"/>
                    </a:solidFill>
                    <a:latin typeface="Inter"/>
                    <a:ea typeface="Inter"/>
                    <a:cs typeface="Inter"/>
                    <a:sym typeface="Inter"/>
                  </a:endParaRPr>
                </a:p>
              </p:txBody>
            </p:sp>
          </p:grpSp>
        </p:gr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83" name="Shape 183"/>
        <p:cNvGrpSpPr/>
        <p:nvPr/>
      </p:nvGrpSpPr>
      <p:grpSpPr>
        <a:xfrm>
          <a:off x="0" y="0"/>
          <a:ext cx="0" cy="0"/>
          <a:chOff x="0" y="0"/>
          <a:chExt cx="0" cy="0"/>
        </a:xfrm>
      </p:grpSpPr>
      <p:grpSp>
        <p:nvGrpSpPr>
          <p:cNvPr id="184" name="Google Shape;184;p17"/>
          <p:cNvGrpSpPr/>
          <p:nvPr/>
        </p:nvGrpSpPr>
        <p:grpSpPr>
          <a:xfrm>
            <a:off x="476250" y="333375"/>
            <a:ext cx="8191500" cy="590550"/>
            <a:chOff x="0" y="0"/>
            <a:chExt cx="8191500" cy="590550"/>
          </a:xfrm>
        </p:grpSpPr>
        <p:sp>
          <p:nvSpPr>
            <p:cNvPr id="185" name="Google Shape;185;p17"/>
            <p:cNvSpPr txBox="1"/>
            <p:nvPr/>
          </p:nvSpPr>
          <p:spPr>
            <a:xfrm>
              <a:off x="0" y="0"/>
              <a:ext cx="8191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38BDF8"/>
                  </a:solidFill>
                  <a:latin typeface="Inter SemiBold"/>
                  <a:ea typeface="Inter SemiBold"/>
                  <a:cs typeface="Inter SemiBold"/>
                  <a:sym typeface="Inter SemiBold"/>
                </a:rPr>
                <a:t>Implementation Roadmap</a:t>
              </a:r>
              <a:endParaRPr b="0" sz="1000">
                <a:solidFill>
                  <a:srgbClr val="38BDF8"/>
                </a:solidFill>
                <a:latin typeface="Inter SemiBold"/>
                <a:ea typeface="Inter SemiBold"/>
                <a:cs typeface="Inter SemiBold"/>
                <a:sym typeface="Inter SemiBold"/>
              </a:endParaRPr>
            </a:p>
          </p:txBody>
        </p:sp>
        <p:sp>
          <p:nvSpPr>
            <p:cNvPr id="186" name="Google Shape;186;p17"/>
            <p:cNvSpPr txBox="1"/>
            <p:nvPr/>
          </p:nvSpPr>
          <p:spPr>
            <a:xfrm>
              <a:off x="0" y="209550"/>
              <a:ext cx="81915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50">
                  <a:solidFill>
                    <a:srgbClr val="FFFFFF"/>
                  </a:solidFill>
                  <a:latin typeface="Inter"/>
                  <a:ea typeface="Inter"/>
                  <a:cs typeface="Inter"/>
                  <a:sym typeface="Inter"/>
                </a:rPr>
                <a:t>Phase 1 Scope: Core Platform &amp; High-Impact Self-Service</a:t>
              </a:r>
              <a:endParaRPr b="1" sz="1850">
                <a:solidFill>
                  <a:srgbClr val="FFFFFF"/>
                </a:solidFill>
                <a:latin typeface="Inter"/>
                <a:ea typeface="Inter"/>
                <a:cs typeface="Inter"/>
                <a:sym typeface="Inter"/>
              </a:endParaRPr>
            </a:p>
          </p:txBody>
        </p:sp>
      </p:grpSp>
      <p:grpSp>
        <p:nvGrpSpPr>
          <p:cNvPr id="187" name="Google Shape;187;p17"/>
          <p:cNvGrpSpPr/>
          <p:nvPr/>
        </p:nvGrpSpPr>
        <p:grpSpPr>
          <a:xfrm>
            <a:off x="476250" y="952500"/>
            <a:ext cx="2600400" cy="3762300"/>
            <a:chOff x="0" y="0"/>
            <a:chExt cx="2600400" cy="3762300"/>
          </a:xfrm>
        </p:grpSpPr>
        <p:sp>
          <p:nvSpPr>
            <p:cNvPr id="188" name="Google Shape;188;p17"/>
            <p:cNvSpPr/>
            <p:nvPr/>
          </p:nvSpPr>
          <p:spPr>
            <a:xfrm>
              <a:off x="0" y="0"/>
              <a:ext cx="2600400" cy="3762300"/>
            </a:xfrm>
            <a:prstGeom prst="roundRect">
              <a:avLst>
                <a:gd fmla="val 2930"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17"/>
            <p:cNvSpPr/>
            <p:nvPr/>
          </p:nvSpPr>
          <p:spPr>
            <a:xfrm>
              <a:off x="0" y="0"/>
              <a:ext cx="2600400" cy="38100"/>
            </a:xfrm>
            <a:prstGeom prst="roundRect">
              <a:avLst>
                <a:gd fmla="val 5000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0" name="Google Shape;190;p17"/>
            <p:cNvSpPr txBox="1"/>
            <p:nvPr/>
          </p:nvSpPr>
          <p:spPr>
            <a:xfrm>
              <a:off x="152400" y="228600"/>
              <a:ext cx="2295600" cy="228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1018" u="none" strike="noStrike">
                  <a:solidFill>
                    <a:srgbClr val="FFFFFF"/>
                  </a:solidFill>
                  <a:latin typeface="Inter"/>
                  <a:ea typeface="Inter"/>
                  <a:cs typeface="Inter"/>
                  <a:sym typeface="Inter"/>
                </a:rPr>
                <a:t>Core Foundation &amp; Data</a:t>
              </a:r>
              <a:endParaRPr b="1" i="0" sz="1018" u="none" strike="noStrike">
                <a:solidFill>
                  <a:srgbClr val="FFFFFF"/>
                </a:solidFill>
                <a:latin typeface="Inter"/>
                <a:ea typeface="Inter"/>
                <a:cs typeface="Inter"/>
                <a:sym typeface="Inter"/>
              </a:endParaRPr>
            </a:p>
          </p:txBody>
        </p:sp>
        <p:grpSp>
          <p:nvGrpSpPr>
            <p:cNvPr id="191" name="Google Shape;191;p17"/>
            <p:cNvGrpSpPr/>
            <p:nvPr/>
          </p:nvGrpSpPr>
          <p:grpSpPr>
            <a:xfrm>
              <a:off x="152400" y="647700"/>
              <a:ext cx="2295600" cy="685800"/>
              <a:chOff x="0" y="0"/>
              <a:chExt cx="2295600" cy="685800"/>
            </a:xfrm>
          </p:grpSpPr>
          <p:sp>
            <p:nvSpPr>
              <p:cNvPr id="192" name="Google Shape;192;p17"/>
              <p:cNvSpPr/>
              <p:nvPr/>
            </p:nvSpPr>
            <p:spPr>
              <a:xfrm>
                <a:off x="0" y="0"/>
                <a:ext cx="2295600" cy="685800"/>
              </a:xfrm>
              <a:prstGeom prst="roundRect">
                <a:avLst>
                  <a:gd fmla="val 8333"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17"/>
              <p:cNvSpPr/>
              <p:nvPr/>
            </p:nvSpPr>
            <p:spPr>
              <a:xfrm>
                <a:off x="114300" y="95250"/>
                <a:ext cx="723900" cy="152400"/>
              </a:xfrm>
              <a:prstGeom prst="roundRect">
                <a:avLst>
                  <a:gd fmla="val 50000" name="adj"/>
                </a:avLst>
              </a:prstGeom>
              <a:solidFill>
                <a:srgbClr val="0284C7">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 name="Google Shape;194;p17"/>
              <p:cNvSpPr txBox="1"/>
              <p:nvPr/>
            </p:nvSpPr>
            <p:spPr>
              <a:xfrm>
                <a:off x="114300" y="95250"/>
                <a:ext cx="723900" cy="152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 sz="543" u="none" strike="noStrike">
                    <a:solidFill>
                      <a:srgbClr val="38BDF8"/>
                    </a:solidFill>
                    <a:latin typeface="Inter"/>
                    <a:ea typeface="Inter"/>
                    <a:cs typeface="Inter"/>
                    <a:sym typeface="Inter"/>
                  </a:rPr>
                  <a:t>FOUNDATION</a:t>
                </a:r>
                <a:endParaRPr b="1" i="0" sz="543" u="none" strike="noStrike">
                  <a:solidFill>
                    <a:srgbClr val="38BDF8"/>
                  </a:solidFill>
                  <a:latin typeface="Inter"/>
                  <a:ea typeface="Inter"/>
                  <a:cs typeface="Inter"/>
                  <a:sym typeface="Inter"/>
                </a:endParaRPr>
              </a:p>
            </p:txBody>
          </p:sp>
          <p:sp>
            <p:nvSpPr>
              <p:cNvPr id="195" name="Google Shape;195;p17"/>
              <p:cNvSpPr txBox="1"/>
              <p:nvPr/>
            </p:nvSpPr>
            <p:spPr>
              <a:xfrm>
                <a:off x="114300" y="285750"/>
                <a:ext cx="2067000" cy="34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65">
                    <a:solidFill>
                      <a:srgbClr val="F8FAFC"/>
                    </a:solidFill>
                    <a:latin typeface="Inter SemiBold"/>
                    <a:ea typeface="Inter SemiBold"/>
                    <a:cs typeface="Inter SemiBold"/>
                    <a:sym typeface="Inter SemiBold"/>
                  </a:rPr>
                  <a:t>Centralised Customer Detail Storage</a:t>
                </a:r>
                <a:endParaRPr b="0" sz="765">
                  <a:solidFill>
                    <a:srgbClr val="F8FAFC"/>
                  </a:solidFill>
                  <a:latin typeface="Inter SemiBold"/>
                  <a:ea typeface="Inter SemiBold"/>
                  <a:cs typeface="Inter SemiBold"/>
                  <a:sym typeface="Inter SemiBold"/>
                </a:endParaRPr>
              </a:p>
              <a:p>
                <a:pPr indent="0" lvl="0" marL="0" rtl="0" algn="l">
                  <a:spcBef>
                    <a:spcPts val="150"/>
                  </a:spcBef>
                  <a:spcAft>
                    <a:spcPts val="0"/>
                  </a:spcAft>
                  <a:buNone/>
                </a:pPr>
                <a:r>
                  <a:rPr b="0" lang="en" sz="638">
                    <a:solidFill>
                      <a:srgbClr val="94A3B8"/>
                    </a:solidFill>
                    <a:latin typeface="Inter"/>
                    <a:ea typeface="Inter"/>
                    <a:cs typeface="Inter"/>
                    <a:sym typeface="Inter"/>
                  </a:rPr>
                  <a:t>Foundational data layer required by all subsequent automation features.</a:t>
                </a:r>
                <a:endParaRPr b="0" sz="638">
                  <a:solidFill>
                    <a:srgbClr val="94A3B8"/>
                  </a:solidFill>
                  <a:latin typeface="Inter"/>
                  <a:ea typeface="Inter"/>
                  <a:cs typeface="Inter"/>
                  <a:sym typeface="Inter"/>
                </a:endParaRPr>
              </a:p>
            </p:txBody>
          </p:sp>
        </p:grpSp>
        <p:grpSp>
          <p:nvGrpSpPr>
            <p:cNvPr id="196" name="Google Shape;196;p17"/>
            <p:cNvGrpSpPr/>
            <p:nvPr/>
          </p:nvGrpSpPr>
          <p:grpSpPr>
            <a:xfrm>
              <a:off x="152400" y="1409700"/>
              <a:ext cx="2295600" cy="685800"/>
              <a:chOff x="0" y="0"/>
              <a:chExt cx="2295600" cy="685800"/>
            </a:xfrm>
          </p:grpSpPr>
          <p:sp>
            <p:nvSpPr>
              <p:cNvPr id="197" name="Google Shape;197;p17"/>
              <p:cNvSpPr/>
              <p:nvPr/>
            </p:nvSpPr>
            <p:spPr>
              <a:xfrm>
                <a:off x="0" y="0"/>
                <a:ext cx="2295600" cy="685800"/>
              </a:xfrm>
              <a:prstGeom prst="roundRect">
                <a:avLst>
                  <a:gd fmla="val 8333"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 name="Google Shape;198;p17"/>
              <p:cNvSpPr/>
              <p:nvPr/>
            </p:nvSpPr>
            <p:spPr>
              <a:xfrm>
                <a:off x="114300" y="95250"/>
                <a:ext cx="723900" cy="152400"/>
              </a:xfrm>
              <a:prstGeom prst="roundRect">
                <a:avLst>
                  <a:gd fmla="val 50000" name="adj"/>
                </a:avLst>
              </a:prstGeom>
              <a:solidFill>
                <a:srgbClr val="0284C7">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9" name="Google Shape;199;p17"/>
              <p:cNvSpPr txBox="1"/>
              <p:nvPr/>
            </p:nvSpPr>
            <p:spPr>
              <a:xfrm>
                <a:off x="114300" y="95250"/>
                <a:ext cx="723900" cy="152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 sz="543" u="none" strike="noStrike">
                    <a:solidFill>
                      <a:srgbClr val="38BDF8"/>
                    </a:solidFill>
                    <a:latin typeface="Inter"/>
                    <a:ea typeface="Inter"/>
                    <a:cs typeface="Inter"/>
                    <a:sym typeface="Inter"/>
                  </a:rPr>
                  <a:t>EFFICIENCY</a:t>
                </a:r>
                <a:endParaRPr b="1" i="0" sz="543" u="none" strike="noStrike">
                  <a:solidFill>
                    <a:srgbClr val="38BDF8"/>
                  </a:solidFill>
                  <a:latin typeface="Inter"/>
                  <a:ea typeface="Inter"/>
                  <a:cs typeface="Inter"/>
                  <a:sym typeface="Inter"/>
                </a:endParaRPr>
              </a:p>
            </p:txBody>
          </p:sp>
          <p:sp>
            <p:nvSpPr>
              <p:cNvPr id="200" name="Google Shape;200;p17"/>
              <p:cNvSpPr txBox="1"/>
              <p:nvPr/>
            </p:nvSpPr>
            <p:spPr>
              <a:xfrm>
                <a:off x="114300" y="285750"/>
                <a:ext cx="2067000" cy="34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65">
                    <a:solidFill>
                      <a:srgbClr val="F8FAFC"/>
                    </a:solidFill>
                    <a:latin typeface="Inter SemiBold"/>
                    <a:ea typeface="Inter SemiBold"/>
                    <a:cs typeface="Inter SemiBold"/>
                    <a:sym typeface="Inter SemiBold"/>
                  </a:rPr>
                  <a:t>Standardised Digital Record Logging</a:t>
                </a:r>
                <a:endParaRPr b="0" sz="765">
                  <a:solidFill>
                    <a:srgbClr val="F8FAFC"/>
                  </a:solidFill>
                  <a:latin typeface="Inter SemiBold"/>
                  <a:ea typeface="Inter SemiBold"/>
                  <a:cs typeface="Inter SemiBold"/>
                  <a:sym typeface="Inter SemiBold"/>
                </a:endParaRPr>
              </a:p>
              <a:p>
                <a:pPr indent="0" lvl="0" marL="0" rtl="0" algn="l">
                  <a:spcBef>
                    <a:spcPts val="150"/>
                  </a:spcBef>
                  <a:spcAft>
                    <a:spcPts val="0"/>
                  </a:spcAft>
                  <a:buNone/>
                </a:pPr>
                <a:r>
                  <a:rPr b="0" lang="en" sz="638">
                    <a:solidFill>
                      <a:srgbClr val="94A3B8"/>
                    </a:solidFill>
                    <a:latin typeface="Inter"/>
                    <a:ea typeface="Inter"/>
                    <a:cs typeface="Inter"/>
                    <a:sym typeface="Inter"/>
                  </a:rPr>
                  <a:t>Eliminates manual errors and yields substantial rep time &amp; cost savings.</a:t>
                </a:r>
                <a:endParaRPr b="0" sz="638">
                  <a:solidFill>
                    <a:srgbClr val="94A3B8"/>
                  </a:solidFill>
                  <a:latin typeface="Inter"/>
                  <a:ea typeface="Inter"/>
                  <a:cs typeface="Inter"/>
                  <a:sym typeface="Inter"/>
                </a:endParaRPr>
              </a:p>
            </p:txBody>
          </p:sp>
        </p:grpSp>
        <p:grpSp>
          <p:nvGrpSpPr>
            <p:cNvPr id="201" name="Google Shape;201;p17"/>
            <p:cNvGrpSpPr/>
            <p:nvPr/>
          </p:nvGrpSpPr>
          <p:grpSpPr>
            <a:xfrm>
              <a:off x="147638" y="2185988"/>
              <a:ext cx="2305200" cy="1428900"/>
              <a:chOff x="-4762" y="-4762"/>
              <a:chExt cx="2305200" cy="1428900"/>
            </a:xfrm>
          </p:grpSpPr>
          <p:pic>
            <p:nvPicPr>
              <p:cNvPr id="202" name="Google Shape;202;p17"/>
              <p:cNvPicPr preferRelativeResize="0"/>
              <p:nvPr/>
            </p:nvPicPr>
            <p:blipFill rotWithShape="1">
              <a:blip r:embed="rId3">
                <a:alphaModFix/>
              </a:blip>
              <a:srcRect b="0" l="0" r="0" t="0"/>
              <a:stretch/>
            </p:blipFill>
            <p:spPr>
              <a:xfrm>
                <a:off x="-4762" y="-4762"/>
                <a:ext cx="2305200" cy="1428900"/>
              </a:xfrm>
              <a:prstGeom prst="rect">
                <a:avLst/>
              </a:prstGeom>
              <a:noFill/>
              <a:ln>
                <a:noFill/>
              </a:ln>
            </p:spPr>
          </p:pic>
          <p:sp>
            <p:nvSpPr>
              <p:cNvPr id="203" name="Google Shape;203;p17"/>
              <p:cNvSpPr/>
              <p:nvPr/>
            </p:nvSpPr>
            <p:spPr>
              <a:xfrm>
                <a:off x="914400" y="247650"/>
                <a:ext cx="457200" cy="457200"/>
              </a:xfrm>
              <a:prstGeom prst="ellipse">
                <a:avLst/>
              </a:prstGeom>
              <a:solidFill>
                <a:srgbClr val="0284C7">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4" name="Google Shape;204;p17"/>
              <p:cNvSpPr/>
              <p:nvPr/>
            </p:nvSpPr>
            <p:spPr>
              <a:xfrm>
                <a:off x="1066800" y="419100"/>
                <a:ext cx="152400" cy="114300"/>
              </a:xfrm>
              <a:custGeom>
                <a:rect b="b" l="l" r="r" t="t"/>
                <a:pathLst>
                  <a:path extrusionOk="0" h="120000" w="120000">
                    <a:moveTo>
                      <a:pt x="0" y="60000"/>
                    </a:moveTo>
                    <a:lnTo>
                      <a:pt x="45000" y="120000"/>
                    </a:lnTo>
                    <a:lnTo>
                      <a:pt x="120000" y="0"/>
                    </a:lnTo>
                  </a:path>
                </a:pathLst>
              </a:custGeom>
              <a:solidFill>
                <a:srgbClr val="000000">
                  <a:alpha val="0"/>
                </a:srgbClr>
              </a:solidFill>
              <a:ln cap="rnd" cmpd="sng" w="23825">
                <a:solidFill>
                  <a:srgbClr val="38BDF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5" name="Google Shape;205;p17"/>
              <p:cNvSpPr txBox="1"/>
              <p:nvPr/>
            </p:nvSpPr>
            <p:spPr>
              <a:xfrm>
                <a:off x="152400" y="838200"/>
                <a:ext cx="19908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765">
                    <a:solidFill>
                      <a:srgbClr val="38BDF8"/>
                    </a:solidFill>
                    <a:latin typeface="Inter SemiBold"/>
                    <a:ea typeface="Inter SemiBold"/>
                    <a:cs typeface="Inter SemiBold"/>
                    <a:sym typeface="Inter SemiBold"/>
                  </a:rPr>
                  <a:t>Data Integrity First</a:t>
                </a:r>
                <a:endParaRPr b="0" sz="765">
                  <a:solidFill>
                    <a:srgbClr val="38BDF8"/>
                  </a:solidFill>
                  <a:latin typeface="Inter SemiBold"/>
                  <a:ea typeface="Inter SemiBold"/>
                  <a:cs typeface="Inter SemiBold"/>
                  <a:sym typeface="Inter SemiBold"/>
                </a:endParaRPr>
              </a:p>
              <a:p>
                <a:pPr indent="0" lvl="0" marL="0" rtl="0" algn="ctr">
                  <a:spcBef>
                    <a:spcPts val="300"/>
                  </a:spcBef>
                  <a:spcAft>
                    <a:spcPts val="0"/>
                  </a:spcAft>
                  <a:buNone/>
                </a:pPr>
                <a:r>
                  <a:rPr b="0" lang="en" sz="638">
                    <a:solidFill>
                      <a:srgbClr val="94A3B8"/>
                    </a:solidFill>
                    <a:latin typeface="Inter"/>
                    <a:ea typeface="Inter"/>
                    <a:cs typeface="Inter"/>
                    <a:sym typeface="Inter"/>
                  </a:rPr>
                  <a:t>Establishes the single source of truth needed for compliant automation.</a:t>
                </a:r>
                <a:endParaRPr b="0" sz="638">
                  <a:solidFill>
                    <a:srgbClr val="94A3B8"/>
                  </a:solidFill>
                  <a:latin typeface="Inter"/>
                  <a:ea typeface="Inter"/>
                  <a:cs typeface="Inter"/>
                  <a:sym typeface="Inter"/>
                </a:endParaRPr>
              </a:p>
            </p:txBody>
          </p:sp>
        </p:grpSp>
      </p:grpSp>
      <p:grpSp>
        <p:nvGrpSpPr>
          <p:cNvPr id="206" name="Google Shape;206;p17"/>
          <p:cNvGrpSpPr/>
          <p:nvPr/>
        </p:nvGrpSpPr>
        <p:grpSpPr>
          <a:xfrm>
            <a:off x="3267075" y="952500"/>
            <a:ext cx="2600400" cy="3762300"/>
            <a:chOff x="0" y="0"/>
            <a:chExt cx="2600400" cy="3762300"/>
          </a:xfrm>
        </p:grpSpPr>
        <p:sp>
          <p:nvSpPr>
            <p:cNvPr id="207" name="Google Shape;207;p17"/>
            <p:cNvSpPr/>
            <p:nvPr/>
          </p:nvSpPr>
          <p:spPr>
            <a:xfrm>
              <a:off x="0" y="0"/>
              <a:ext cx="2600400" cy="3762300"/>
            </a:xfrm>
            <a:prstGeom prst="roundRect">
              <a:avLst>
                <a:gd fmla="val 2930"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8" name="Google Shape;208;p17"/>
            <p:cNvSpPr/>
            <p:nvPr/>
          </p:nvSpPr>
          <p:spPr>
            <a:xfrm>
              <a:off x="0" y="0"/>
              <a:ext cx="2600400" cy="381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9" name="Google Shape;209;p17"/>
            <p:cNvSpPr txBox="1"/>
            <p:nvPr/>
          </p:nvSpPr>
          <p:spPr>
            <a:xfrm>
              <a:off x="152400" y="228600"/>
              <a:ext cx="2295600" cy="228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1018" u="none" strike="noStrike">
                  <a:solidFill>
                    <a:srgbClr val="FFFFFF"/>
                  </a:solidFill>
                  <a:latin typeface="Inter"/>
                  <a:ea typeface="Inter"/>
                  <a:cs typeface="Inter"/>
                  <a:sym typeface="Inter"/>
                </a:rPr>
                <a:t>Self-Service Portal</a:t>
              </a:r>
              <a:endParaRPr b="1" i="0" sz="1018" u="none" strike="noStrike">
                <a:solidFill>
                  <a:srgbClr val="FFFFFF"/>
                </a:solidFill>
                <a:latin typeface="Inter"/>
                <a:ea typeface="Inter"/>
                <a:cs typeface="Inter"/>
                <a:sym typeface="Inter"/>
              </a:endParaRPr>
            </a:p>
          </p:txBody>
        </p:sp>
        <p:grpSp>
          <p:nvGrpSpPr>
            <p:cNvPr id="210" name="Google Shape;210;p17"/>
            <p:cNvGrpSpPr/>
            <p:nvPr/>
          </p:nvGrpSpPr>
          <p:grpSpPr>
            <a:xfrm>
              <a:off x="152400" y="647700"/>
              <a:ext cx="2295600" cy="685800"/>
              <a:chOff x="0" y="0"/>
              <a:chExt cx="2295600" cy="685800"/>
            </a:xfrm>
          </p:grpSpPr>
          <p:sp>
            <p:nvSpPr>
              <p:cNvPr id="211" name="Google Shape;211;p17"/>
              <p:cNvSpPr/>
              <p:nvPr/>
            </p:nvSpPr>
            <p:spPr>
              <a:xfrm>
                <a:off x="0" y="0"/>
                <a:ext cx="2295600" cy="685800"/>
              </a:xfrm>
              <a:prstGeom prst="roundRect">
                <a:avLst>
                  <a:gd fmla="val 8333"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2" name="Google Shape;212;p17"/>
              <p:cNvSpPr/>
              <p:nvPr/>
            </p:nvSpPr>
            <p:spPr>
              <a:xfrm>
                <a:off x="114300" y="95250"/>
                <a:ext cx="723900" cy="152400"/>
              </a:xfrm>
              <a:prstGeom prst="roundRect">
                <a:avLst>
                  <a:gd fmla="val 50000" name="adj"/>
                </a:avLst>
              </a:prstGeom>
              <a:solidFill>
                <a:srgbClr val="10B981">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17"/>
              <p:cNvSpPr txBox="1"/>
              <p:nvPr/>
            </p:nvSpPr>
            <p:spPr>
              <a:xfrm>
                <a:off x="114300" y="95250"/>
                <a:ext cx="723900" cy="152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 sz="543" u="none" strike="noStrike">
                    <a:solidFill>
                      <a:srgbClr val="34D399"/>
                    </a:solidFill>
                    <a:latin typeface="Inter"/>
                    <a:ea typeface="Inter"/>
                    <a:cs typeface="Inter"/>
                    <a:sym typeface="Inter"/>
                  </a:rPr>
                  <a:t>HIGHEST ROI</a:t>
                </a:r>
                <a:endParaRPr b="1" i="0" sz="543" u="none" strike="noStrike">
                  <a:solidFill>
                    <a:srgbClr val="34D399"/>
                  </a:solidFill>
                  <a:latin typeface="Inter"/>
                  <a:ea typeface="Inter"/>
                  <a:cs typeface="Inter"/>
                  <a:sym typeface="Inter"/>
                </a:endParaRPr>
              </a:p>
            </p:txBody>
          </p:sp>
          <p:sp>
            <p:nvSpPr>
              <p:cNvPr id="214" name="Google Shape;214;p17"/>
              <p:cNvSpPr txBox="1"/>
              <p:nvPr/>
            </p:nvSpPr>
            <p:spPr>
              <a:xfrm>
                <a:off x="114300" y="285750"/>
                <a:ext cx="2067000" cy="34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65">
                    <a:solidFill>
                      <a:srgbClr val="F8FAFC"/>
                    </a:solidFill>
                    <a:latin typeface="Inter SemiBold"/>
                    <a:ea typeface="Inter SemiBold"/>
                    <a:cs typeface="Inter SemiBold"/>
                    <a:sym typeface="Inter SemiBold"/>
                  </a:rPr>
                  <a:t>Self-Service Payments</a:t>
                </a:r>
                <a:endParaRPr b="0" sz="765">
                  <a:solidFill>
                    <a:srgbClr val="F8FAFC"/>
                  </a:solidFill>
                  <a:latin typeface="Inter SemiBold"/>
                  <a:ea typeface="Inter SemiBold"/>
                  <a:cs typeface="Inter SemiBold"/>
                  <a:sym typeface="Inter SemiBold"/>
                </a:endParaRPr>
              </a:p>
              <a:p>
                <a:pPr indent="0" lvl="0" marL="0" rtl="0" algn="l">
                  <a:spcBef>
                    <a:spcPts val="150"/>
                  </a:spcBef>
                  <a:spcAft>
                    <a:spcPts val="0"/>
                  </a:spcAft>
                  <a:buNone/>
                </a:pPr>
                <a:r>
                  <a:rPr b="0" lang="en" sz="638">
                    <a:solidFill>
                      <a:srgbClr val="94A3B8"/>
                    </a:solidFill>
                    <a:latin typeface="Inter"/>
                    <a:ea typeface="Inter"/>
                    <a:cs typeface="Inter"/>
                    <a:sym typeface="Inter"/>
                  </a:rPr>
                  <a:t>Delivers core ROI by shifting workloads off representatives.</a:t>
                </a:r>
                <a:endParaRPr b="0" sz="638">
                  <a:solidFill>
                    <a:srgbClr val="94A3B8"/>
                  </a:solidFill>
                  <a:latin typeface="Inter"/>
                  <a:ea typeface="Inter"/>
                  <a:cs typeface="Inter"/>
                  <a:sym typeface="Inter"/>
                </a:endParaRPr>
              </a:p>
            </p:txBody>
          </p:sp>
        </p:grpSp>
        <p:grpSp>
          <p:nvGrpSpPr>
            <p:cNvPr id="215" name="Google Shape;215;p17"/>
            <p:cNvGrpSpPr/>
            <p:nvPr/>
          </p:nvGrpSpPr>
          <p:grpSpPr>
            <a:xfrm>
              <a:off x="152400" y="1409700"/>
              <a:ext cx="2295600" cy="685800"/>
              <a:chOff x="0" y="0"/>
              <a:chExt cx="2295600" cy="685800"/>
            </a:xfrm>
          </p:grpSpPr>
          <p:sp>
            <p:nvSpPr>
              <p:cNvPr id="216" name="Google Shape;216;p17"/>
              <p:cNvSpPr/>
              <p:nvPr/>
            </p:nvSpPr>
            <p:spPr>
              <a:xfrm>
                <a:off x="0" y="0"/>
                <a:ext cx="2295600" cy="685800"/>
              </a:xfrm>
              <a:prstGeom prst="roundRect">
                <a:avLst>
                  <a:gd fmla="val 8333"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7" name="Google Shape;217;p17"/>
              <p:cNvSpPr/>
              <p:nvPr/>
            </p:nvSpPr>
            <p:spPr>
              <a:xfrm>
                <a:off x="114300" y="95250"/>
                <a:ext cx="723900" cy="152400"/>
              </a:xfrm>
              <a:prstGeom prst="roundRect">
                <a:avLst>
                  <a:gd fmla="val 50000" name="adj"/>
                </a:avLst>
              </a:prstGeom>
              <a:solidFill>
                <a:srgbClr val="10B981">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8" name="Google Shape;218;p17"/>
              <p:cNvSpPr txBox="1"/>
              <p:nvPr/>
            </p:nvSpPr>
            <p:spPr>
              <a:xfrm>
                <a:off x="114300" y="95250"/>
                <a:ext cx="723900" cy="152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 sz="543" u="none" strike="noStrike">
                    <a:solidFill>
                      <a:srgbClr val="34D399"/>
                    </a:solidFill>
                    <a:latin typeface="Inter"/>
                    <a:ea typeface="Inter"/>
                    <a:cs typeface="Inter"/>
                    <a:sym typeface="Inter"/>
                  </a:rPr>
                  <a:t>HIGH IMPACT</a:t>
                </a:r>
                <a:endParaRPr b="1" i="0" sz="543" u="none" strike="noStrike">
                  <a:solidFill>
                    <a:srgbClr val="34D399"/>
                  </a:solidFill>
                  <a:latin typeface="Inter"/>
                  <a:ea typeface="Inter"/>
                  <a:cs typeface="Inter"/>
                  <a:sym typeface="Inter"/>
                </a:endParaRPr>
              </a:p>
            </p:txBody>
          </p:sp>
          <p:sp>
            <p:nvSpPr>
              <p:cNvPr id="219" name="Google Shape;219;p17"/>
              <p:cNvSpPr txBox="1"/>
              <p:nvPr/>
            </p:nvSpPr>
            <p:spPr>
              <a:xfrm>
                <a:off x="114300" y="285750"/>
                <a:ext cx="2067000" cy="34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65">
                    <a:solidFill>
                      <a:srgbClr val="F8FAFC"/>
                    </a:solidFill>
                    <a:latin typeface="Inter SemiBold"/>
                    <a:ea typeface="Inter SemiBold"/>
                    <a:cs typeface="Inter SemiBold"/>
                    <a:sym typeface="Inter SemiBold"/>
                  </a:rPr>
                  <a:t>Self-Service Promise to Pay</a:t>
                </a:r>
                <a:endParaRPr b="0" sz="765">
                  <a:solidFill>
                    <a:srgbClr val="F8FAFC"/>
                  </a:solidFill>
                  <a:latin typeface="Inter SemiBold"/>
                  <a:ea typeface="Inter SemiBold"/>
                  <a:cs typeface="Inter SemiBold"/>
                  <a:sym typeface="Inter SemiBold"/>
                </a:endParaRPr>
              </a:p>
              <a:p>
                <a:pPr indent="0" lvl="0" marL="0" rtl="0" algn="l">
                  <a:spcBef>
                    <a:spcPts val="150"/>
                  </a:spcBef>
                  <a:spcAft>
                    <a:spcPts val="0"/>
                  </a:spcAft>
                  <a:buNone/>
                </a:pPr>
                <a:r>
                  <a:rPr b="0" lang="en" sz="638">
                    <a:solidFill>
                      <a:srgbClr val="94A3B8"/>
                    </a:solidFill>
                    <a:latin typeface="Inter"/>
                    <a:ea typeface="Inter"/>
                    <a:cs typeface="Inter"/>
                    <a:sym typeface="Inter"/>
                  </a:rPr>
                  <a:t>Enables commitment recording without staff intervention.</a:t>
                </a:r>
                <a:endParaRPr b="0" sz="638">
                  <a:solidFill>
                    <a:srgbClr val="94A3B8"/>
                  </a:solidFill>
                  <a:latin typeface="Inter"/>
                  <a:ea typeface="Inter"/>
                  <a:cs typeface="Inter"/>
                  <a:sym typeface="Inter"/>
                </a:endParaRPr>
              </a:p>
            </p:txBody>
          </p:sp>
        </p:grpSp>
        <p:grpSp>
          <p:nvGrpSpPr>
            <p:cNvPr id="220" name="Google Shape;220;p17"/>
            <p:cNvGrpSpPr/>
            <p:nvPr/>
          </p:nvGrpSpPr>
          <p:grpSpPr>
            <a:xfrm>
              <a:off x="152400" y="2171700"/>
              <a:ext cx="2295600" cy="685800"/>
              <a:chOff x="0" y="0"/>
              <a:chExt cx="2295600" cy="685800"/>
            </a:xfrm>
          </p:grpSpPr>
          <p:sp>
            <p:nvSpPr>
              <p:cNvPr id="221" name="Google Shape;221;p17"/>
              <p:cNvSpPr/>
              <p:nvPr/>
            </p:nvSpPr>
            <p:spPr>
              <a:xfrm>
                <a:off x="0" y="0"/>
                <a:ext cx="2295600" cy="685800"/>
              </a:xfrm>
              <a:prstGeom prst="roundRect">
                <a:avLst>
                  <a:gd fmla="val 8333"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2" name="Google Shape;222;p17"/>
              <p:cNvSpPr/>
              <p:nvPr/>
            </p:nvSpPr>
            <p:spPr>
              <a:xfrm>
                <a:off x="114300" y="95250"/>
                <a:ext cx="723900" cy="152400"/>
              </a:xfrm>
              <a:prstGeom prst="roundRect">
                <a:avLst>
                  <a:gd fmla="val 50000" name="adj"/>
                </a:avLst>
              </a:prstGeom>
              <a:solidFill>
                <a:srgbClr val="10B981">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3" name="Google Shape;223;p17"/>
              <p:cNvSpPr txBox="1"/>
              <p:nvPr/>
            </p:nvSpPr>
            <p:spPr>
              <a:xfrm>
                <a:off x="114300" y="95250"/>
                <a:ext cx="723900" cy="152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 sz="543" u="none" strike="noStrike">
                    <a:solidFill>
                      <a:srgbClr val="34D399"/>
                    </a:solidFill>
                    <a:latin typeface="Inter"/>
                    <a:ea typeface="Inter"/>
                    <a:cs typeface="Inter"/>
                    <a:sym typeface="Inter"/>
                  </a:rPr>
                  <a:t>ADOPTION</a:t>
                </a:r>
                <a:endParaRPr b="1" i="0" sz="543" u="none" strike="noStrike">
                  <a:solidFill>
                    <a:srgbClr val="34D399"/>
                  </a:solidFill>
                  <a:latin typeface="Inter"/>
                  <a:ea typeface="Inter"/>
                  <a:cs typeface="Inter"/>
                  <a:sym typeface="Inter"/>
                </a:endParaRPr>
              </a:p>
            </p:txBody>
          </p:sp>
          <p:sp>
            <p:nvSpPr>
              <p:cNvPr id="224" name="Google Shape;224;p17"/>
              <p:cNvSpPr txBox="1"/>
              <p:nvPr/>
            </p:nvSpPr>
            <p:spPr>
              <a:xfrm>
                <a:off x="114300" y="285750"/>
                <a:ext cx="2067000" cy="34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65">
                    <a:solidFill>
                      <a:srgbClr val="F8FAFC"/>
                    </a:solidFill>
                    <a:latin typeface="Inter SemiBold"/>
                    <a:ea typeface="Inter SemiBold"/>
                    <a:cs typeface="Inter SemiBold"/>
                    <a:sym typeface="Inter SemiBold"/>
                  </a:rPr>
                  <a:t>Self-Service Account Info</a:t>
                </a:r>
                <a:endParaRPr b="0" sz="765">
                  <a:solidFill>
                    <a:srgbClr val="F8FAFC"/>
                  </a:solidFill>
                  <a:latin typeface="Inter SemiBold"/>
                  <a:ea typeface="Inter SemiBold"/>
                  <a:cs typeface="Inter SemiBold"/>
                  <a:sym typeface="Inter SemiBold"/>
                </a:endParaRPr>
              </a:p>
              <a:p>
                <a:pPr indent="0" lvl="0" marL="0" rtl="0" algn="l">
                  <a:spcBef>
                    <a:spcPts val="150"/>
                  </a:spcBef>
                  <a:spcAft>
                    <a:spcPts val="0"/>
                  </a:spcAft>
                  <a:buNone/>
                </a:pPr>
                <a:r>
                  <a:rPr b="0" lang="en" sz="638">
                    <a:solidFill>
                      <a:srgbClr val="94A3B8"/>
                    </a:solidFill>
                    <a:latin typeface="Inter"/>
                    <a:ea typeface="Inter"/>
                    <a:cs typeface="Inter"/>
                    <a:sym typeface="Inter"/>
                  </a:rPr>
                  <a:t>Provides full balance and status visibility to drive usage.</a:t>
                </a:r>
                <a:endParaRPr b="0" sz="638">
                  <a:solidFill>
                    <a:srgbClr val="94A3B8"/>
                  </a:solidFill>
                  <a:latin typeface="Inter"/>
                  <a:ea typeface="Inter"/>
                  <a:cs typeface="Inter"/>
                  <a:sym typeface="Inter"/>
                </a:endParaRPr>
              </a:p>
            </p:txBody>
          </p:sp>
        </p:grpSp>
        <p:grpSp>
          <p:nvGrpSpPr>
            <p:cNvPr id="225" name="Google Shape;225;p17"/>
            <p:cNvGrpSpPr/>
            <p:nvPr/>
          </p:nvGrpSpPr>
          <p:grpSpPr>
            <a:xfrm>
              <a:off x="152400" y="2933700"/>
              <a:ext cx="2295600" cy="685800"/>
              <a:chOff x="0" y="0"/>
              <a:chExt cx="2295600" cy="685800"/>
            </a:xfrm>
          </p:grpSpPr>
          <p:sp>
            <p:nvSpPr>
              <p:cNvPr id="226" name="Google Shape;226;p17"/>
              <p:cNvSpPr/>
              <p:nvPr/>
            </p:nvSpPr>
            <p:spPr>
              <a:xfrm>
                <a:off x="0" y="0"/>
                <a:ext cx="2295600" cy="685800"/>
              </a:xfrm>
              <a:prstGeom prst="roundRect">
                <a:avLst>
                  <a:gd fmla="val 8333"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7" name="Google Shape;227;p17"/>
              <p:cNvSpPr/>
              <p:nvPr/>
            </p:nvSpPr>
            <p:spPr>
              <a:xfrm>
                <a:off x="114300" y="95250"/>
                <a:ext cx="723900" cy="152400"/>
              </a:xfrm>
              <a:prstGeom prst="roundRect">
                <a:avLst>
                  <a:gd fmla="val 50000" name="adj"/>
                </a:avLst>
              </a:prstGeom>
              <a:solidFill>
                <a:srgbClr val="10B981">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8" name="Google Shape;228;p17"/>
              <p:cNvSpPr txBox="1"/>
              <p:nvPr/>
            </p:nvSpPr>
            <p:spPr>
              <a:xfrm>
                <a:off x="114300" y="95250"/>
                <a:ext cx="723900" cy="152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 sz="543" u="none" strike="noStrike">
                    <a:solidFill>
                      <a:srgbClr val="34D399"/>
                    </a:solidFill>
                    <a:latin typeface="Inter"/>
                    <a:ea typeface="Inter"/>
                    <a:cs typeface="Inter"/>
                    <a:sym typeface="Inter"/>
                  </a:rPr>
                  <a:t>LOW OVERHEAD</a:t>
                </a:r>
                <a:endParaRPr b="1" i="0" sz="543" u="none" strike="noStrike">
                  <a:solidFill>
                    <a:srgbClr val="34D399"/>
                  </a:solidFill>
                  <a:latin typeface="Inter"/>
                  <a:ea typeface="Inter"/>
                  <a:cs typeface="Inter"/>
                  <a:sym typeface="Inter"/>
                </a:endParaRPr>
              </a:p>
            </p:txBody>
          </p:sp>
          <p:sp>
            <p:nvSpPr>
              <p:cNvPr id="229" name="Google Shape;229;p17"/>
              <p:cNvSpPr txBox="1"/>
              <p:nvPr/>
            </p:nvSpPr>
            <p:spPr>
              <a:xfrm>
                <a:off x="114300" y="285750"/>
                <a:ext cx="2067000" cy="34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65">
                    <a:solidFill>
                      <a:srgbClr val="F8FAFC"/>
                    </a:solidFill>
                    <a:latin typeface="Inter SemiBold"/>
                    <a:ea typeface="Inter SemiBold"/>
                    <a:cs typeface="Inter SemiBold"/>
                    <a:sym typeface="Inter SemiBold"/>
                  </a:rPr>
                  <a:t>Self-Service Updating Details</a:t>
                </a:r>
                <a:endParaRPr b="0" sz="765">
                  <a:solidFill>
                    <a:srgbClr val="F8FAFC"/>
                  </a:solidFill>
                  <a:latin typeface="Inter SemiBold"/>
                  <a:ea typeface="Inter SemiBold"/>
                  <a:cs typeface="Inter SemiBold"/>
                  <a:sym typeface="Inter SemiBold"/>
                </a:endParaRPr>
              </a:p>
              <a:p>
                <a:pPr indent="0" lvl="0" marL="0" rtl="0" algn="l">
                  <a:spcBef>
                    <a:spcPts val="150"/>
                  </a:spcBef>
                  <a:spcAft>
                    <a:spcPts val="0"/>
                  </a:spcAft>
                  <a:buNone/>
                </a:pPr>
                <a:r>
                  <a:rPr b="0" lang="en" sz="638">
                    <a:solidFill>
                      <a:srgbClr val="94A3B8"/>
                    </a:solidFill>
                    <a:latin typeface="Inter"/>
                    <a:ea typeface="Inter"/>
                    <a:cs typeface="Inter"/>
                    <a:sym typeface="Inter"/>
                  </a:rPr>
                  <a:t>Empowers customers to keep contact data accurate directly.</a:t>
                </a:r>
                <a:endParaRPr b="0" sz="638">
                  <a:solidFill>
                    <a:srgbClr val="94A3B8"/>
                  </a:solidFill>
                  <a:latin typeface="Inter"/>
                  <a:ea typeface="Inter"/>
                  <a:cs typeface="Inter"/>
                  <a:sym typeface="Inter"/>
                </a:endParaRPr>
              </a:p>
            </p:txBody>
          </p:sp>
        </p:grpSp>
      </p:grpSp>
      <p:grpSp>
        <p:nvGrpSpPr>
          <p:cNvPr id="230" name="Google Shape;230;p17"/>
          <p:cNvGrpSpPr/>
          <p:nvPr/>
        </p:nvGrpSpPr>
        <p:grpSpPr>
          <a:xfrm>
            <a:off x="6057900" y="952500"/>
            <a:ext cx="2610000" cy="3762300"/>
            <a:chOff x="0" y="0"/>
            <a:chExt cx="2610000" cy="3762300"/>
          </a:xfrm>
        </p:grpSpPr>
        <p:sp>
          <p:nvSpPr>
            <p:cNvPr id="231" name="Google Shape;231;p17"/>
            <p:cNvSpPr/>
            <p:nvPr/>
          </p:nvSpPr>
          <p:spPr>
            <a:xfrm>
              <a:off x="0" y="0"/>
              <a:ext cx="2610000" cy="3762300"/>
            </a:xfrm>
            <a:prstGeom prst="roundRect">
              <a:avLst>
                <a:gd fmla="val 2919"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17"/>
            <p:cNvSpPr/>
            <p:nvPr/>
          </p:nvSpPr>
          <p:spPr>
            <a:xfrm>
              <a:off x="0" y="0"/>
              <a:ext cx="2610000" cy="38100"/>
            </a:xfrm>
            <a:prstGeom prst="roundRect">
              <a:avLst>
                <a:gd fmla="val 50000" name="adj"/>
              </a:avLst>
            </a:prstGeom>
            <a:solidFill>
              <a:srgbClr val="8B5C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3" name="Google Shape;233;p17"/>
            <p:cNvSpPr txBox="1"/>
            <p:nvPr/>
          </p:nvSpPr>
          <p:spPr>
            <a:xfrm>
              <a:off x="152400" y="228600"/>
              <a:ext cx="2305200" cy="228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1018" u="none" strike="noStrike">
                  <a:solidFill>
                    <a:srgbClr val="FFFFFF"/>
                  </a:solidFill>
                  <a:latin typeface="Inter"/>
                  <a:ea typeface="Inter"/>
                  <a:cs typeface="Inter"/>
                  <a:sym typeface="Inter"/>
                </a:rPr>
                <a:t>Automation &amp; Security</a:t>
              </a:r>
              <a:endParaRPr b="1" i="0" sz="1018" u="none" strike="noStrike">
                <a:solidFill>
                  <a:srgbClr val="FFFFFF"/>
                </a:solidFill>
                <a:latin typeface="Inter"/>
                <a:ea typeface="Inter"/>
                <a:cs typeface="Inter"/>
                <a:sym typeface="Inter"/>
              </a:endParaRPr>
            </a:p>
          </p:txBody>
        </p:sp>
        <p:grpSp>
          <p:nvGrpSpPr>
            <p:cNvPr id="234" name="Google Shape;234;p17"/>
            <p:cNvGrpSpPr/>
            <p:nvPr/>
          </p:nvGrpSpPr>
          <p:grpSpPr>
            <a:xfrm>
              <a:off x="152400" y="647700"/>
              <a:ext cx="2305200" cy="685800"/>
              <a:chOff x="0" y="0"/>
              <a:chExt cx="2305200" cy="685800"/>
            </a:xfrm>
          </p:grpSpPr>
          <p:sp>
            <p:nvSpPr>
              <p:cNvPr id="235" name="Google Shape;235;p17"/>
              <p:cNvSpPr/>
              <p:nvPr/>
            </p:nvSpPr>
            <p:spPr>
              <a:xfrm>
                <a:off x="0" y="0"/>
                <a:ext cx="2305200" cy="685800"/>
              </a:xfrm>
              <a:prstGeom prst="roundRect">
                <a:avLst>
                  <a:gd fmla="val 8333"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17"/>
              <p:cNvSpPr/>
              <p:nvPr/>
            </p:nvSpPr>
            <p:spPr>
              <a:xfrm>
                <a:off x="114300" y="95250"/>
                <a:ext cx="723900" cy="152400"/>
              </a:xfrm>
              <a:prstGeom prst="roundRect">
                <a:avLst>
                  <a:gd fmla="val 50000" name="adj"/>
                </a:avLst>
              </a:prstGeom>
              <a:solidFill>
                <a:srgbClr val="8B5CF6">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7" name="Google Shape;237;p17"/>
              <p:cNvSpPr txBox="1"/>
              <p:nvPr/>
            </p:nvSpPr>
            <p:spPr>
              <a:xfrm>
                <a:off x="114300" y="95250"/>
                <a:ext cx="723900" cy="152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 sz="543" u="none" strike="noStrike">
                    <a:solidFill>
                      <a:srgbClr val="A78BFA"/>
                    </a:solidFill>
                    <a:latin typeface="Inter"/>
                    <a:ea typeface="Inter"/>
                    <a:cs typeface="Inter"/>
                    <a:sym typeface="Inter"/>
                  </a:rPr>
                  <a:t>SECURITY</a:t>
                </a:r>
                <a:endParaRPr b="1" i="0" sz="543" u="none" strike="noStrike">
                  <a:solidFill>
                    <a:srgbClr val="A78BFA"/>
                  </a:solidFill>
                  <a:latin typeface="Inter"/>
                  <a:ea typeface="Inter"/>
                  <a:cs typeface="Inter"/>
                  <a:sym typeface="Inter"/>
                </a:endParaRPr>
              </a:p>
            </p:txBody>
          </p:sp>
          <p:sp>
            <p:nvSpPr>
              <p:cNvPr id="238" name="Google Shape;238;p17"/>
              <p:cNvSpPr txBox="1"/>
              <p:nvPr/>
            </p:nvSpPr>
            <p:spPr>
              <a:xfrm>
                <a:off x="114300" y="285750"/>
                <a:ext cx="2076600" cy="34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65">
                    <a:solidFill>
                      <a:srgbClr val="F8FAFC"/>
                    </a:solidFill>
                    <a:latin typeface="Inter SemiBold"/>
                    <a:ea typeface="Inter SemiBold"/>
                    <a:cs typeface="Inter SemiBold"/>
                    <a:sym typeface="Inter SemiBold"/>
                  </a:rPr>
                  <a:t>Automated Identity Verification</a:t>
                </a:r>
                <a:endParaRPr b="0" sz="765">
                  <a:solidFill>
                    <a:srgbClr val="F8FAFC"/>
                  </a:solidFill>
                  <a:latin typeface="Inter SemiBold"/>
                  <a:ea typeface="Inter SemiBold"/>
                  <a:cs typeface="Inter SemiBold"/>
                  <a:sym typeface="Inter SemiBold"/>
                </a:endParaRPr>
              </a:p>
              <a:p>
                <a:pPr indent="0" lvl="0" marL="0" rtl="0" algn="l">
                  <a:spcBef>
                    <a:spcPts val="150"/>
                  </a:spcBef>
                  <a:spcAft>
                    <a:spcPts val="0"/>
                  </a:spcAft>
                  <a:buNone/>
                </a:pPr>
                <a:r>
                  <a:rPr b="0" lang="en" sz="638">
                    <a:solidFill>
                      <a:srgbClr val="94A3B8"/>
                    </a:solidFill>
                    <a:latin typeface="Inter"/>
                    <a:ea typeface="Inter"/>
                    <a:cs typeface="Inter"/>
                    <a:sym typeface="Inter"/>
                  </a:rPr>
                  <a:t>Essential security gate required prior to self-service access.</a:t>
                </a:r>
                <a:endParaRPr b="0" sz="638">
                  <a:solidFill>
                    <a:srgbClr val="94A3B8"/>
                  </a:solidFill>
                  <a:latin typeface="Inter"/>
                  <a:ea typeface="Inter"/>
                  <a:cs typeface="Inter"/>
                  <a:sym typeface="Inter"/>
                </a:endParaRPr>
              </a:p>
            </p:txBody>
          </p:sp>
        </p:grpSp>
        <p:grpSp>
          <p:nvGrpSpPr>
            <p:cNvPr id="239" name="Google Shape;239;p17"/>
            <p:cNvGrpSpPr/>
            <p:nvPr/>
          </p:nvGrpSpPr>
          <p:grpSpPr>
            <a:xfrm>
              <a:off x="152400" y="1409700"/>
              <a:ext cx="2305200" cy="685800"/>
              <a:chOff x="0" y="0"/>
              <a:chExt cx="2305200" cy="685800"/>
            </a:xfrm>
          </p:grpSpPr>
          <p:sp>
            <p:nvSpPr>
              <p:cNvPr id="240" name="Google Shape;240;p17"/>
              <p:cNvSpPr/>
              <p:nvPr/>
            </p:nvSpPr>
            <p:spPr>
              <a:xfrm>
                <a:off x="0" y="0"/>
                <a:ext cx="2305200" cy="685800"/>
              </a:xfrm>
              <a:prstGeom prst="roundRect">
                <a:avLst>
                  <a:gd fmla="val 8333"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 name="Google Shape;241;p17"/>
              <p:cNvSpPr/>
              <p:nvPr/>
            </p:nvSpPr>
            <p:spPr>
              <a:xfrm>
                <a:off x="114300" y="95250"/>
                <a:ext cx="723900" cy="152400"/>
              </a:xfrm>
              <a:prstGeom prst="roundRect">
                <a:avLst>
                  <a:gd fmla="val 50000" name="adj"/>
                </a:avLst>
              </a:prstGeom>
              <a:solidFill>
                <a:srgbClr val="8B5CF6">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2" name="Google Shape;242;p17"/>
              <p:cNvSpPr txBox="1"/>
              <p:nvPr/>
            </p:nvSpPr>
            <p:spPr>
              <a:xfrm>
                <a:off x="114300" y="95250"/>
                <a:ext cx="723900" cy="152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 sz="543" u="none" strike="noStrike">
                    <a:solidFill>
                      <a:srgbClr val="A78BFA"/>
                    </a:solidFill>
                    <a:latin typeface="Inter"/>
                    <a:ea typeface="Inter"/>
                    <a:cs typeface="Inter"/>
                    <a:sym typeface="Inter"/>
                  </a:rPr>
                  <a:t>RECONCILIATION</a:t>
                </a:r>
                <a:endParaRPr b="1" i="0" sz="543" u="none" strike="noStrike">
                  <a:solidFill>
                    <a:srgbClr val="A78BFA"/>
                  </a:solidFill>
                  <a:latin typeface="Inter"/>
                  <a:ea typeface="Inter"/>
                  <a:cs typeface="Inter"/>
                  <a:sym typeface="Inter"/>
                </a:endParaRPr>
              </a:p>
            </p:txBody>
          </p:sp>
          <p:sp>
            <p:nvSpPr>
              <p:cNvPr id="243" name="Google Shape;243;p17"/>
              <p:cNvSpPr txBox="1"/>
              <p:nvPr/>
            </p:nvSpPr>
            <p:spPr>
              <a:xfrm>
                <a:off x="114300" y="285750"/>
                <a:ext cx="2076600" cy="34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65">
                    <a:solidFill>
                      <a:srgbClr val="F8FAFC"/>
                    </a:solidFill>
                    <a:latin typeface="Inter SemiBold"/>
                    <a:ea typeface="Inter SemiBold"/>
                    <a:cs typeface="Inter SemiBold"/>
                    <a:sym typeface="Inter SemiBold"/>
                  </a:rPr>
                  <a:t>Payment Fulfillment Check</a:t>
                </a:r>
                <a:endParaRPr b="0" sz="765">
                  <a:solidFill>
                    <a:srgbClr val="F8FAFC"/>
                  </a:solidFill>
                  <a:latin typeface="Inter SemiBold"/>
                  <a:ea typeface="Inter SemiBold"/>
                  <a:cs typeface="Inter SemiBold"/>
                  <a:sym typeface="Inter SemiBold"/>
                </a:endParaRPr>
              </a:p>
              <a:p>
                <a:pPr indent="0" lvl="0" marL="0" rtl="0" algn="l">
                  <a:spcBef>
                    <a:spcPts val="150"/>
                  </a:spcBef>
                  <a:spcAft>
                    <a:spcPts val="0"/>
                  </a:spcAft>
                  <a:buNone/>
                </a:pPr>
                <a:r>
                  <a:rPr b="0" lang="en" sz="638">
                    <a:solidFill>
                      <a:srgbClr val="94A3B8"/>
                    </a:solidFill>
                    <a:latin typeface="Inter"/>
                    <a:ea typeface="Inter"/>
                    <a:cs typeface="Inter"/>
                    <a:sym typeface="Inter"/>
                  </a:rPr>
                  <a:t>Streamlines reconciliation &amp; prevents missed revenue.</a:t>
                </a:r>
                <a:endParaRPr b="0" sz="638">
                  <a:solidFill>
                    <a:srgbClr val="94A3B8"/>
                  </a:solidFill>
                  <a:latin typeface="Inter"/>
                  <a:ea typeface="Inter"/>
                  <a:cs typeface="Inter"/>
                  <a:sym typeface="Inter"/>
                </a:endParaRPr>
              </a:p>
            </p:txBody>
          </p:sp>
        </p:grpSp>
        <p:grpSp>
          <p:nvGrpSpPr>
            <p:cNvPr id="244" name="Google Shape;244;p17"/>
            <p:cNvGrpSpPr/>
            <p:nvPr/>
          </p:nvGrpSpPr>
          <p:grpSpPr>
            <a:xfrm>
              <a:off x="152400" y="2171700"/>
              <a:ext cx="2305200" cy="685800"/>
              <a:chOff x="0" y="0"/>
              <a:chExt cx="2305200" cy="685800"/>
            </a:xfrm>
          </p:grpSpPr>
          <p:sp>
            <p:nvSpPr>
              <p:cNvPr id="245" name="Google Shape;245;p17"/>
              <p:cNvSpPr/>
              <p:nvPr/>
            </p:nvSpPr>
            <p:spPr>
              <a:xfrm>
                <a:off x="0" y="0"/>
                <a:ext cx="2305200" cy="685800"/>
              </a:xfrm>
              <a:prstGeom prst="roundRect">
                <a:avLst>
                  <a:gd fmla="val 8333"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6" name="Google Shape;246;p17"/>
              <p:cNvSpPr/>
              <p:nvPr/>
            </p:nvSpPr>
            <p:spPr>
              <a:xfrm>
                <a:off x="114300" y="95250"/>
                <a:ext cx="723900" cy="152400"/>
              </a:xfrm>
              <a:prstGeom prst="roundRect">
                <a:avLst>
                  <a:gd fmla="val 50000" name="adj"/>
                </a:avLst>
              </a:prstGeom>
              <a:solidFill>
                <a:srgbClr val="8B5CF6">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7" name="Google Shape;247;p17"/>
              <p:cNvSpPr txBox="1"/>
              <p:nvPr/>
            </p:nvSpPr>
            <p:spPr>
              <a:xfrm>
                <a:off x="114300" y="95250"/>
                <a:ext cx="723900" cy="152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 sz="543" u="none" strike="noStrike">
                    <a:solidFill>
                      <a:srgbClr val="A78BFA"/>
                    </a:solidFill>
                    <a:latin typeface="Inter"/>
                    <a:ea typeface="Inter"/>
                    <a:cs typeface="Inter"/>
                    <a:sym typeface="Inter"/>
                  </a:rPr>
                  <a:t>TRACKING</a:t>
                </a:r>
                <a:endParaRPr b="1" i="0" sz="543" u="none" strike="noStrike">
                  <a:solidFill>
                    <a:srgbClr val="A78BFA"/>
                  </a:solidFill>
                  <a:latin typeface="Inter"/>
                  <a:ea typeface="Inter"/>
                  <a:cs typeface="Inter"/>
                  <a:sym typeface="Inter"/>
                </a:endParaRPr>
              </a:p>
            </p:txBody>
          </p:sp>
          <p:sp>
            <p:nvSpPr>
              <p:cNvPr id="248" name="Google Shape;248;p17"/>
              <p:cNvSpPr txBox="1"/>
              <p:nvPr/>
            </p:nvSpPr>
            <p:spPr>
              <a:xfrm>
                <a:off x="114300" y="285750"/>
                <a:ext cx="2076600" cy="34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65">
                    <a:solidFill>
                      <a:srgbClr val="F8FAFC"/>
                    </a:solidFill>
                    <a:latin typeface="Inter SemiBold"/>
                    <a:ea typeface="Inter SemiBold"/>
                    <a:cs typeface="Inter SemiBold"/>
                    <a:sym typeface="Inter SemiBold"/>
                  </a:rPr>
                  <a:t>Automated Follow-Up Scheduling</a:t>
                </a:r>
                <a:endParaRPr b="0" sz="765">
                  <a:solidFill>
                    <a:srgbClr val="F8FAFC"/>
                  </a:solidFill>
                  <a:latin typeface="Inter SemiBold"/>
                  <a:ea typeface="Inter SemiBold"/>
                  <a:cs typeface="Inter SemiBold"/>
                  <a:sym typeface="Inter SemiBold"/>
                </a:endParaRPr>
              </a:p>
              <a:p>
                <a:pPr indent="0" lvl="0" marL="0" rtl="0" algn="l">
                  <a:spcBef>
                    <a:spcPts val="150"/>
                  </a:spcBef>
                  <a:spcAft>
                    <a:spcPts val="0"/>
                  </a:spcAft>
                  <a:buNone/>
                </a:pPr>
                <a:r>
                  <a:rPr b="0" lang="en" sz="638">
                    <a:solidFill>
                      <a:srgbClr val="94A3B8"/>
                    </a:solidFill>
                    <a:latin typeface="Inter"/>
                    <a:ea typeface="Inter"/>
                    <a:cs typeface="Inter"/>
                    <a:sym typeface="Inter"/>
                  </a:rPr>
                  <a:t>Replaces error-prone manual tasks with automated tracking.</a:t>
                </a:r>
                <a:endParaRPr b="0" sz="638">
                  <a:solidFill>
                    <a:srgbClr val="94A3B8"/>
                  </a:solidFill>
                  <a:latin typeface="Inter"/>
                  <a:ea typeface="Inter"/>
                  <a:cs typeface="Inter"/>
                  <a:sym typeface="Inter"/>
                </a:endParaRPr>
              </a:p>
            </p:txBody>
          </p:sp>
        </p:grpSp>
        <p:grpSp>
          <p:nvGrpSpPr>
            <p:cNvPr id="249" name="Google Shape;249;p17"/>
            <p:cNvGrpSpPr/>
            <p:nvPr/>
          </p:nvGrpSpPr>
          <p:grpSpPr>
            <a:xfrm>
              <a:off x="152400" y="2933700"/>
              <a:ext cx="2305200" cy="685800"/>
              <a:chOff x="0" y="0"/>
              <a:chExt cx="2305200" cy="685800"/>
            </a:xfrm>
          </p:grpSpPr>
          <p:sp>
            <p:nvSpPr>
              <p:cNvPr id="250" name="Google Shape;250;p17"/>
              <p:cNvSpPr/>
              <p:nvPr/>
            </p:nvSpPr>
            <p:spPr>
              <a:xfrm>
                <a:off x="0" y="0"/>
                <a:ext cx="2305200" cy="685800"/>
              </a:xfrm>
              <a:prstGeom prst="roundRect">
                <a:avLst>
                  <a:gd fmla="val 8333"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1" name="Google Shape;251;p17"/>
              <p:cNvSpPr/>
              <p:nvPr/>
            </p:nvSpPr>
            <p:spPr>
              <a:xfrm>
                <a:off x="114300" y="95250"/>
                <a:ext cx="723900" cy="152400"/>
              </a:xfrm>
              <a:prstGeom prst="roundRect">
                <a:avLst>
                  <a:gd fmla="val 50000" name="adj"/>
                </a:avLst>
              </a:prstGeom>
              <a:solidFill>
                <a:srgbClr val="8B5CF6">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2" name="Google Shape;252;p17"/>
              <p:cNvSpPr txBox="1"/>
              <p:nvPr/>
            </p:nvSpPr>
            <p:spPr>
              <a:xfrm>
                <a:off x="114300" y="95250"/>
                <a:ext cx="723900" cy="152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 sz="543" u="none" strike="noStrike">
                    <a:solidFill>
                      <a:srgbClr val="A78BFA"/>
                    </a:solidFill>
                    <a:latin typeface="Inter"/>
                    <a:ea typeface="Inter"/>
                    <a:cs typeface="Inter"/>
                    <a:sym typeface="Inter"/>
                  </a:rPr>
                  <a:t>PROACTIVE</a:t>
                </a:r>
                <a:endParaRPr b="1" i="0" sz="543" u="none" strike="noStrike">
                  <a:solidFill>
                    <a:srgbClr val="A78BFA"/>
                  </a:solidFill>
                  <a:latin typeface="Inter"/>
                  <a:ea typeface="Inter"/>
                  <a:cs typeface="Inter"/>
                  <a:sym typeface="Inter"/>
                </a:endParaRPr>
              </a:p>
            </p:txBody>
          </p:sp>
          <p:sp>
            <p:nvSpPr>
              <p:cNvPr id="253" name="Google Shape;253;p17"/>
              <p:cNvSpPr txBox="1"/>
              <p:nvPr/>
            </p:nvSpPr>
            <p:spPr>
              <a:xfrm>
                <a:off x="114300" y="285750"/>
                <a:ext cx="2076600" cy="34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65">
                    <a:solidFill>
                      <a:srgbClr val="F8FAFC"/>
                    </a:solidFill>
                    <a:latin typeface="Inter SemiBold"/>
                    <a:ea typeface="Inter SemiBold"/>
                    <a:cs typeface="Inter SemiBold"/>
                    <a:sym typeface="Inter SemiBold"/>
                  </a:rPr>
                  <a:t>Automated Payment Reminders</a:t>
                </a:r>
                <a:endParaRPr b="0" sz="765">
                  <a:solidFill>
                    <a:srgbClr val="F8FAFC"/>
                  </a:solidFill>
                  <a:latin typeface="Inter SemiBold"/>
                  <a:ea typeface="Inter SemiBold"/>
                  <a:cs typeface="Inter SemiBold"/>
                  <a:sym typeface="Inter SemiBold"/>
                </a:endParaRPr>
              </a:p>
              <a:p>
                <a:pPr indent="0" lvl="0" marL="0" rtl="0" algn="l">
                  <a:spcBef>
                    <a:spcPts val="150"/>
                  </a:spcBef>
                  <a:spcAft>
                    <a:spcPts val="0"/>
                  </a:spcAft>
                  <a:buNone/>
                </a:pPr>
                <a:r>
                  <a:rPr b="0" lang="en" sz="638">
                    <a:solidFill>
                      <a:srgbClr val="94A3B8"/>
                    </a:solidFill>
                    <a:latin typeface="Inter"/>
                    <a:ea typeface="Inter"/>
                    <a:cs typeface="Inter"/>
                    <a:sym typeface="Inter"/>
                  </a:rPr>
                  <a:t>Proactive notifications that boost collections &amp; lower risk.</a:t>
                </a:r>
                <a:endParaRPr b="0" sz="638">
                  <a:solidFill>
                    <a:srgbClr val="94A3B8"/>
                  </a:solidFill>
                  <a:latin typeface="Inter"/>
                  <a:ea typeface="Inter"/>
                  <a:cs typeface="Inter"/>
                  <a:sym typeface="Inter"/>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57" name="Shape 257"/>
        <p:cNvGrpSpPr/>
        <p:nvPr/>
      </p:nvGrpSpPr>
      <p:grpSpPr>
        <a:xfrm>
          <a:off x="0" y="0"/>
          <a:ext cx="0" cy="0"/>
          <a:chOff x="0" y="0"/>
          <a:chExt cx="0" cy="0"/>
        </a:xfrm>
      </p:grpSpPr>
      <p:grpSp>
        <p:nvGrpSpPr>
          <p:cNvPr id="258" name="Google Shape;258;p18"/>
          <p:cNvGrpSpPr/>
          <p:nvPr/>
        </p:nvGrpSpPr>
        <p:grpSpPr>
          <a:xfrm>
            <a:off x="476250" y="333375"/>
            <a:ext cx="8191500" cy="590550"/>
            <a:chOff x="0" y="0"/>
            <a:chExt cx="8191500" cy="590550"/>
          </a:xfrm>
        </p:grpSpPr>
        <p:sp>
          <p:nvSpPr>
            <p:cNvPr id="259" name="Google Shape;259;p18"/>
            <p:cNvSpPr txBox="1"/>
            <p:nvPr/>
          </p:nvSpPr>
          <p:spPr>
            <a:xfrm>
              <a:off x="0" y="0"/>
              <a:ext cx="8191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38BDF8"/>
                  </a:solidFill>
                  <a:latin typeface="Inter SemiBold"/>
                  <a:ea typeface="Inter SemiBold"/>
                  <a:cs typeface="Inter SemiBold"/>
                  <a:sym typeface="Inter SemiBold"/>
                </a:rPr>
                <a:t>Implementation Scope &amp; Strategy</a:t>
              </a:r>
              <a:endParaRPr b="0" sz="1000">
                <a:solidFill>
                  <a:srgbClr val="38BDF8"/>
                </a:solidFill>
                <a:latin typeface="Inter SemiBold"/>
                <a:ea typeface="Inter SemiBold"/>
                <a:cs typeface="Inter SemiBold"/>
                <a:sym typeface="Inter SemiBold"/>
              </a:endParaRPr>
            </a:p>
          </p:txBody>
        </p:sp>
        <p:sp>
          <p:nvSpPr>
            <p:cNvPr id="260" name="Google Shape;260;p18"/>
            <p:cNvSpPr txBox="1"/>
            <p:nvPr/>
          </p:nvSpPr>
          <p:spPr>
            <a:xfrm>
              <a:off x="0" y="209550"/>
              <a:ext cx="81915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50">
                  <a:solidFill>
                    <a:srgbClr val="FFFFFF"/>
                  </a:solidFill>
                  <a:latin typeface="Inter"/>
                  <a:ea typeface="Inter"/>
                  <a:cs typeface="Inter"/>
                  <a:sym typeface="Inter"/>
                </a:rPr>
                <a:t>Out of Scope Features: Phase 1 Exclusions</a:t>
              </a:r>
              <a:endParaRPr b="1" sz="1850">
                <a:solidFill>
                  <a:srgbClr val="FFFFFF"/>
                </a:solidFill>
                <a:latin typeface="Inter"/>
                <a:ea typeface="Inter"/>
                <a:cs typeface="Inter"/>
                <a:sym typeface="Inter"/>
              </a:endParaRPr>
            </a:p>
          </p:txBody>
        </p:sp>
      </p:grpSp>
      <p:grpSp>
        <p:nvGrpSpPr>
          <p:cNvPr id="261" name="Google Shape;261;p18"/>
          <p:cNvGrpSpPr/>
          <p:nvPr/>
        </p:nvGrpSpPr>
        <p:grpSpPr>
          <a:xfrm>
            <a:off x="476250" y="1000125"/>
            <a:ext cx="2533800" cy="3667200"/>
            <a:chOff x="0" y="0"/>
            <a:chExt cx="2533800" cy="3667200"/>
          </a:xfrm>
        </p:grpSpPr>
        <p:sp>
          <p:nvSpPr>
            <p:cNvPr id="262" name="Google Shape;262;p18"/>
            <p:cNvSpPr/>
            <p:nvPr/>
          </p:nvSpPr>
          <p:spPr>
            <a:xfrm>
              <a:off x="0" y="0"/>
              <a:ext cx="2533800" cy="3667200"/>
            </a:xfrm>
            <a:prstGeom prst="roundRect">
              <a:avLst>
                <a:gd fmla="val 3007"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 name="Google Shape;263;p18"/>
            <p:cNvSpPr/>
            <p:nvPr/>
          </p:nvSpPr>
          <p:spPr>
            <a:xfrm>
              <a:off x="0" y="0"/>
              <a:ext cx="2533800" cy="38100"/>
            </a:xfrm>
            <a:prstGeom prst="roundRect">
              <a:avLst>
                <a:gd fmla="val 50000" name="adj"/>
              </a:avLst>
            </a:prstGeom>
            <a:solidFill>
              <a:srgbClr val="1E40A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4" name="Google Shape;264;p18"/>
            <p:cNvSpPr txBox="1"/>
            <p:nvPr/>
          </p:nvSpPr>
          <p:spPr>
            <a:xfrm>
              <a:off x="190500" y="190500"/>
              <a:ext cx="21528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F8FAFC"/>
                  </a:solidFill>
                  <a:latin typeface="Inter"/>
                  <a:ea typeface="Inter"/>
                  <a:cs typeface="Inter"/>
                  <a:sym typeface="Inter"/>
                </a:rPr>
                <a:t>High Complexity &amp; Risk</a:t>
              </a:r>
              <a:endParaRPr b="1" sz="1100">
                <a:solidFill>
                  <a:srgbClr val="F8FAFC"/>
                </a:solidFill>
                <a:latin typeface="Inter"/>
                <a:ea typeface="Inter"/>
                <a:cs typeface="Inter"/>
                <a:sym typeface="Inter"/>
              </a:endParaRPr>
            </a:p>
          </p:txBody>
        </p:sp>
        <p:grpSp>
          <p:nvGrpSpPr>
            <p:cNvPr id="265" name="Google Shape;265;p18"/>
            <p:cNvGrpSpPr/>
            <p:nvPr/>
          </p:nvGrpSpPr>
          <p:grpSpPr>
            <a:xfrm>
              <a:off x="152400" y="533400"/>
              <a:ext cx="2229000" cy="1428900"/>
              <a:chOff x="0" y="0"/>
              <a:chExt cx="2229000" cy="1428900"/>
            </a:xfrm>
          </p:grpSpPr>
          <p:sp>
            <p:nvSpPr>
              <p:cNvPr id="266" name="Google Shape;266;p18"/>
              <p:cNvSpPr/>
              <p:nvPr/>
            </p:nvSpPr>
            <p:spPr>
              <a:xfrm>
                <a:off x="0" y="0"/>
                <a:ext cx="2229000" cy="1428900"/>
              </a:xfrm>
              <a:prstGeom prst="roundRect">
                <a:avLst>
                  <a:gd fmla="val 4000"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7" name="Google Shape;267;p18"/>
              <p:cNvSpPr/>
              <p:nvPr/>
            </p:nvSpPr>
            <p:spPr>
              <a:xfrm>
                <a:off x="114300" y="114300"/>
                <a:ext cx="1047900" cy="171600"/>
              </a:xfrm>
              <a:prstGeom prst="roundRect">
                <a:avLst>
                  <a:gd fmla="val 50000" name="adj"/>
                </a:avLst>
              </a:prstGeom>
              <a:solidFill>
                <a:srgbClr val="1E40AF">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8" name="Google Shape;268;p18"/>
              <p:cNvSpPr txBox="1"/>
              <p:nvPr/>
            </p:nvSpPr>
            <p:spPr>
              <a:xfrm>
                <a:off x="114300" y="114300"/>
                <a:ext cx="1047900" cy="171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 sz="600">
                    <a:solidFill>
                      <a:srgbClr val="60A5FA"/>
                    </a:solidFill>
                    <a:latin typeface="Inter"/>
                    <a:ea typeface="Inter"/>
                    <a:cs typeface="Inter"/>
                    <a:sym typeface="Inter"/>
                  </a:rPr>
                  <a:t>HIGH COMPLEXITY</a:t>
                </a:r>
                <a:endParaRPr b="1" i="0" sz="600">
                  <a:solidFill>
                    <a:srgbClr val="60A5FA"/>
                  </a:solidFill>
                  <a:latin typeface="Inter"/>
                  <a:ea typeface="Inter"/>
                  <a:cs typeface="Inter"/>
                  <a:sym typeface="Inter"/>
                </a:endParaRPr>
              </a:p>
            </p:txBody>
          </p:sp>
          <p:sp>
            <p:nvSpPr>
              <p:cNvPr id="269" name="Google Shape;269;p18"/>
              <p:cNvSpPr txBox="1"/>
              <p:nvPr/>
            </p:nvSpPr>
            <p:spPr>
              <a:xfrm>
                <a:off x="114300" y="361950"/>
                <a:ext cx="20001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50">
                    <a:solidFill>
                      <a:srgbClr val="F8FAFC"/>
                    </a:solidFill>
                    <a:latin typeface="Inter SemiBold"/>
                    <a:ea typeface="Inter SemiBold"/>
                    <a:cs typeface="Inter SemiBold"/>
                    <a:sym typeface="Inter SemiBold"/>
                  </a:rPr>
                  <a:t>Automated Case Assignment</a:t>
                </a:r>
                <a:endParaRPr b="0" sz="950">
                  <a:solidFill>
                    <a:srgbClr val="F8FAFC"/>
                  </a:solidFill>
                  <a:latin typeface="Inter SemiBold"/>
                  <a:ea typeface="Inter SemiBold"/>
                  <a:cs typeface="Inter SemiBold"/>
                  <a:sym typeface="Inter SemiBold"/>
                </a:endParaRPr>
              </a:p>
              <a:p>
                <a:pPr indent="0" lvl="0" marL="0" rtl="0" algn="l">
                  <a:spcBef>
                    <a:spcPts val="450"/>
                  </a:spcBef>
                  <a:spcAft>
                    <a:spcPts val="0"/>
                  </a:spcAft>
                  <a:buNone/>
                </a:pPr>
                <a:r>
                  <a:rPr b="0" lang="en" sz="850">
                    <a:solidFill>
                      <a:srgbClr val="94A3B8"/>
                    </a:solidFill>
                    <a:latin typeface="Inter"/>
                    <a:ea typeface="Inter"/>
                    <a:cs typeface="Inter"/>
                    <a:sym typeface="Inter"/>
                  </a:rPr>
                  <a:t>Excluded due to high implementation complexity and minimal impact on core processing bottlenecks.</a:t>
                </a:r>
                <a:endParaRPr b="0" sz="850">
                  <a:solidFill>
                    <a:srgbClr val="94A3B8"/>
                  </a:solidFill>
                  <a:latin typeface="Inter"/>
                  <a:ea typeface="Inter"/>
                  <a:cs typeface="Inter"/>
                  <a:sym typeface="Inter"/>
                </a:endParaRPr>
              </a:p>
            </p:txBody>
          </p:sp>
        </p:grpSp>
        <p:grpSp>
          <p:nvGrpSpPr>
            <p:cNvPr id="270" name="Google Shape;270;p18"/>
            <p:cNvGrpSpPr/>
            <p:nvPr/>
          </p:nvGrpSpPr>
          <p:grpSpPr>
            <a:xfrm>
              <a:off x="152400" y="2076450"/>
              <a:ext cx="2229000" cy="1428900"/>
              <a:chOff x="0" y="0"/>
              <a:chExt cx="2229000" cy="1428900"/>
            </a:xfrm>
          </p:grpSpPr>
          <p:sp>
            <p:nvSpPr>
              <p:cNvPr id="271" name="Google Shape;271;p18"/>
              <p:cNvSpPr/>
              <p:nvPr/>
            </p:nvSpPr>
            <p:spPr>
              <a:xfrm>
                <a:off x="0" y="0"/>
                <a:ext cx="2229000" cy="1428900"/>
              </a:xfrm>
              <a:prstGeom prst="roundRect">
                <a:avLst>
                  <a:gd fmla="val 4000"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2" name="Google Shape;272;p18"/>
              <p:cNvSpPr/>
              <p:nvPr/>
            </p:nvSpPr>
            <p:spPr>
              <a:xfrm>
                <a:off x="114300" y="114300"/>
                <a:ext cx="1143000" cy="171600"/>
              </a:xfrm>
              <a:prstGeom prst="roundRect">
                <a:avLst>
                  <a:gd fmla="val 49999" name="adj"/>
                </a:avLst>
              </a:prstGeom>
              <a:solidFill>
                <a:srgbClr val="1E40AF">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3" name="Google Shape;273;p18"/>
              <p:cNvSpPr txBox="1"/>
              <p:nvPr/>
            </p:nvSpPr>
            <p:spPr>
              <a:xfrm>
                <a:off x="114300" y="114300"/>
                <a:ext cx="1143000" cy="171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 sz="600">
                    <a:solidFill>
                      <a:srgbClr val="60A5FA"/>
                    </a:solidFill>
                    <a:latin typeface="Inter"/>
                    <a:ea typeface="Inter"/>
                    <a:cs typeface="Inter"/>
                    <a:sym typeface="Inter"/>
                  </a:rPr>
                  <a:t>HUMAN JUDGMENT</a:t>
                </a:r>
                <a:endParaRPr b="1" i="0" sz="600">
                  <a:solidFill>
                    <a:srgbClr val="60A5FA"/>
                  </a:solidFill>
                  <a:latin typeface="Inter"/>
                  <a:ea typeface="Inter"/>
                  <a:cs typeface="Inter"/>
                  <a:sym typeface="Inter"/>
                </a:endParaRPr>
              </a:p>
            </p:txBody>
          </p:sp>
          <p:sp>
            <p:nvSpPr>
              <p:cNvPr id="274" name="Google Shape;274;p18"/>
              <p:cNvSpPr txBox="1"/>
              <p:nvPr/>
            </p:nvSpPr>
            <p:spPr>
              <a:xfrm>
                <a:off x="114300" y="361950"/>
                <a:ext cx="20001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50">
                    <a:solidFill>
                      <a:srgbClr val="F8FAFC"/>
                    </a:solidFill>
                    <a:latin typeface="Inter SemiBold"/>
                    <a:ea typeface="Inter SemiBold"/>
                    <a:cs typeface="Inter SemiBold"/>
                    <a:sym typeface="Inter SemiBold"/>
                  </a:rPr>
                  <a:t>Specialist Case Handling</a:t>
                </a:r>
                <a:endParaRPr b="0" sz="950">
                  <a:solidFill>
                    <a:srgbClr val="F8FAFC"/>
                  </a:solidFill>
                  <a:latin typeface="Inter SemiBold"/>
                  <a:ea typeface="Inter SemiBold"/>
                  <a:cs typeface="Inter SemiBold"/>
                  <a:sym typeface="Inter SemiBold"/>
                </a:endParaRPr>
              </a:p>
              <a:p>
                <a:pPr indent="0" lvl="0" marL="0" rtl="0" algn="l">
                  <a:spcBef>
                    <a:spcPts val="450"/>
                  </a:spcBef>
                  <a:spcAft>
                    <a:spcPts val="0"/>
                  </a:spcAft>
                  <a:buNone/>
                </a:pPr>
                <a:r>
                  <a:rPr b="0" lang="en" sz="850">
                    <a:solidFill>
                      <a:srgbClr val="94A3B8"/>
                    </a:solidFill>
                    <a:latin typeface="Inter"/>
                    <a:ea typeface="Inter"/>
                    <a:cs typeface="Inter"/>
                    <a:sym typeface="Inter"/>
                  </a:rPr>
                  <a:t>Requires human judgment and contextual analysis; unsuitable for automated processing in Phase 1.</a:t>
                </a:r>
                <a:endParaRPr b="0" sz="850">
                  <a:solidFill>
                    <a:srgbClr val="94A3B8"/>
                  </a:solidFill>
                  <a:latin typeface="Inter"/>
                  <a:ea typeface="Inter"/>
                  <a:cs typeface="Inter"/>
                  <a:sym typeface="Inter"/>
                </a:endParaRPr>
              </a:p>
            </p:txBody>
          </p:sp>
        </p:grpSp>
      </p:grpSp>
      <p:grpSp>
        <p:nvGrpSpPr>
          <p:cNvPr id="275" name="Google Shape;275;p18"/>
          <p:cNvGrpSpPr/>
          <p:nvPr/>
        </p:nvGrpSpPr>
        <p:grpSpPr>
          <a:xfrm>
            <a:off x="3305175" y="1000125"/>
            <a:ext cx="2533800" cy="3667200"/>
            <a:chOff x="0" y="0"/>
            <a:chExt cx="2533800" cy="3667200"/>
          </a:xfrm>
        </p:grpSpPr>
        <p:sp>
          <p:nvSpPr>
            <p:cNvPr id="276" name="Google Shape;276;p18"/>
            <p:cNvSpPr/>
            <p:nvPr/>
          </p:nvSpPr>
          <p:spPr>
            <a:xfrm>
              <a:off x="0" y="0"/>
              <a:ext cx="2533800" cy="3667200"/>
            </a:xfrm>
            <a:prstGeom prst="roundRect">
              <a:avLst>
                <a:gd fmla="val 3007"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7" name="Google Shape;277;p18"/>
            <p:cNvSpPr/>
            <p:nvPr/>
          </p:nvSpPr>
          <p:spPr>
            <a:xfrm>
              <a:off x="0" y="0"/>
              <a:ext cx="2533800" cy="38100"/>
            </a:xfrm>
            <a:prstGeom prst="roundRect">
              <a:avLst>
                <a:gd fmla="val 50000" name="adj"/>
              </a:avLst>
            </a:prstGeom>
            <a:solidFill>
              <a:srgbClr val="1E40A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8" name="Google Shape;278;p18"/>
            <p:cNvSpPr txBox="1"/>
            <p:nvPr/>
          </p:nvSpPr>
          <p:spPr>
            <a:xfrm>
              <a:off x="190500" y="190500"/>
              <a:ext cx="21528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F8FAFC"/>
                  </a:solidFill>
                  <a:latin typeface="Inter"/>
                  <a:ea typeface="Inter"/>
                  <a:cs typeface="Inter"/>
                  <a:sym typeface="Inter"/>
                </a:rPr>
                <a:t>Low Impact &amp; ROI</a:t>
              </a:r>
              <a:endParaRPr b="1" sz="1100">
                <a:solidFill>
                  <a:srgbClr val="F8FAFC"/>
                </a:solidFill>
                <a:latin typeface="Inter"/>
                <a:ea typeface="Inter"/>
                <a:cs typeface="Inter"/>
                <a:sym typeface="Inter"/>
              </a:endParaRPr>
            </a:p>
          </p:txBody>
        </p:sp>
        <p:grpSp>
          <p:nvGrpSpPr>
            <p:cNvPr id="279" name="Google Shape;279;p18"/>
            <p:cNvGrpSpPr/>
            <p:nvPr/>
          </p:nvGrpSpPr>
          <p:grpSpPr>
            <a:xfrm>
              <a:off x="152400" y="533400"/>
              <a:ext cx="2229000" cy="1428900"/>
              <a:chOff x="0" y="0"/>
              <a:chExt cx="2229000" cy="1428900"/>
            </a:xfrm>
          </p:grpSpPr>
          <p:sp>
            <p:nvSpPr>
              <p:cNvPr id="280" name="Google Shape;280;p18"/>
              <p:cNvSpPr/>
              <p:nvPr/>
            </p:nvSpPr>
            <p:spPr>
              <a:xfrm>
                <a:off x="0" y="0"/>
                <a:ext cx="2229000" cy="1428900"/>
              </a:xfrm>
              <a:prstGeom prst="roundRect">
                <a:avLst>
                  <a:gd fmla="val 4000"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1" name="Google Shape;281;p18"/>
              <p:cNvSpPr/>
              <p:nvPr/>
            </p:nvSpPr>
            <p:spPr>
              <a:xfrm>
                <a:off x="114300" y="114300"/>
                <a:ext cx="1047900" cy="171600"/>
              </a:xfrm>
              <a:prstGeom prst="roundRect">
                <a:avLst>
                  <a:gd fmla="val 50000" name="adj"/>
                </a:avLst>
              </a:prstGeom>
              <a:solidFill>
                <a:srgbClr val="1E40AF">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2" name="Google Shape;282;p18"/>
              <p:cNvSpPr txBox="1"/>
              <p:nvPr/>
            </p:nvSpPr>
            <p:spPr>
              <a:xfrm>
                <a:off x="114300" y="114300"/>
                <a:ext cx="1047900" cy="171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 sz="600">
                    <a:solidFill>
                      <a:srgbClr val="60A5FA"/>
                    </a:solidFill>
                    <a:latin typeface="Inter"/>
                    <a:ea typeface="Inter"/>
                    <a:cs typeface="Inter"/>
                    <a:sym typeface="Inter"/>
                  </a:rPr>
                  <a:t>NEGLIGIBLE SAVINGS</a:t>
                </a:r>
                <a:endParaRPr b="1" i="0" sz="600">
                  <a:solidFill>
                    <a:srgbClr val="60A5FA"/>
                  </a:solidFill>
                  <a:latin typeface="Inter"/>
                  <a:ea typeface="Inter"/>
                  <a:cs typeface="Inter"/>
                  <a:sym typeface="Inter"/>
                </a:endParaRPr>
              </a:p>
            </p:txBody>
          </p:sp>
          <p:sp>
            <p:nvSpPr>
              <p:cNvPr id="283" name="Google Shape;283;p18"/>
              <p:cNvSpPr txBox="1"/>
              <p:nvPr/>
            </p:nvSpPr>
            <p:spPr>
              <a:xfrm>
                <a:off x="114300" y="361950"/>
                <a:ext cx="20001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50">
                    <a:solidFill>
                      <a:srgbClr val="F8FAFC"/>
                    </a:solidFill>
                    <a:latin typeface="Inter SemiBold"/>
                    <a:ea typeface="Inter SemiBold"/>
                    <a:cs typeface="Inter SemiBold"/>
                    <a:sym typeface="Inter SemiBold"/>
                  </a:rPr>
                  <a:t>Automated Complexity Classification</a:t>
                </a:r>
                <a:endParaRPr b="0" sz="950">
                  <a:solidFill>
                    <a:srgbClr val="F8FAFC"/>
                  </a:solidFill>
                  <a:latin typeface="Inter SemiBold"/>
                  <a:ea typeface="Inter SemiBold"/>
                  <a:cs typeface="Inter SemiBold"/>
                  <a:sym typeface="Inter SemiBold"/>
                </a:endParaRPr>
              </a:p>
              <a:p>
                <a:pPr indent="0" lvl="0" marL="0" rtl="0" algn="l">
                  <a:spcBef>
                    <a:spcPts val="450"/>
                  </a:spcBef>
                  <a:spcAft>
                    <a:spcPts val="0"/>
                  </a:spcAft>
                  <a:buNone/>
                </a:pPr>
                <a:r>
                  <a:rPr b="0" lang="en" sz="850">
                    <a:solidFill>
                      <a:srgbClr val="94A3B8"/>
                    </a:solidFill>
                    <a:latin typeface="Inter"/>
                    <a:ea typeface="Inter"/>
                    <a:cs typeface="Inter"/>
                    <a:sym typeface="Inter"/>
                  </a:rPr>
                  <a:t>Reordering case queues provides negligible time savings and does not reduce overall representative workload.</a:t>
                </a:r>
                <a:endParaRPr b="0" sz="850">
                  <a:solidFill>
                    <a:srgbClr val="94A3B8"/>
                  </a:solidFill>
                  <a:latin typeface="Inter"/>
                  <a:ea typeface="Inter"/>
                  <a:cs typeface="Inter"/>
                  <a:sym typeface="Inter"/>
                </a:endParaRPr>
              </a:p>
            </p:txBody>
          </p:sp>
        </p:grpSp>
        <p:grpSp>
          <p:nvGrpSpPr>
            <p:cNvPr id="284" name="Google Shape;284;p18"/>
            <p:cNvGrpSpPr/>
            <p:nvPr/>
          </p:nvGrpSpPr>
          <p:grpSpPr>
            <a:xfrm>
              <a:off x="152400" y="2076450"/>
              <a:ext cx="2229000" cy="1428900"/>
              <a:chOff x="0" y="0"/>
              <a:chExt cx="2229000" cy="1428900"/>
            </a:xfrm>
          </p:grpSpPr>
          <p:sp>
            <p:nvSpPr>
              <p:cNvPr id="285" name="Google Shape;285;p18"/>
              <p:cNvSpPr/>
              <p:nvPr/>
            </p:nvSpPr>
            <p:spPr>
              <a:xfrm>
                <a:off x="0" y="0"/>
                <a:ext cx="2229000" cy="1428900"/>
              </a:xfrm>
              <a:prstGeom prst="roundRect">
                <a:avLst>
                  <a:gd fmla="val 4000"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6" name="Google Shape;286;p18"/>
              <p:cNvSpPr/>
              <p:nvPr/>
            </p:nvSpPr>
            <p:spPr>
              <a:xfrm>
                <a:off x="114300" y="114300"/>
                <a:ext cx="952500" cy="171600"/>
              </a:xfrm>
              <a:prstGeom prst="roundRect">
                <a:avLst>
                  <a:gd fmla="val 49999" name="adj"/>
                </a:avLst>
              </a:prstGeom>
              <a:solidFill>
                <a:srgbClr val="1E40AF">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7" name="Google Shape;287;p18"/>
              <p:cNvSpPr txBox="1"/>
              <p:nvPr/>
            </p:nvSpPr>
            <p:spPr>
              <a:xfrm>
                <a:off x="114300" y="114300"/>
                <a:ext cx="952500" cy="171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 sz="600">
                    <a:solidFill>
                      <a:srgbClr val="60A5FA"/>
                    </a:solidFill>
                    <a:latin typeface="Inter"/>
                    <a:ea typeface="Inter"/>
                    <a:cs typeface="Inter"/>
                    <a:sym typeface="Inter"/>
                  </a:rPr>
                  <a:t>NO ROI IMPACT</a:t>
                </a:r>
                <a:endParaRPr b="1" i="0" sz="600">
                  <a:solidFill>
                    <a:srgbClr val="60A5FA"/>
                  </a:solidFill>
                  <a:latin typeface="Inter"/>
                  <a:ea typeface="Inter"/>
                  <a:cs typeface="Inter"/>
                  <a:sym typeface="Inter"/>
                </a:endParaRPr>
              </a:p>
            </p:txBody>
          </p:sp>
          <p:sp>
            <p:nvSpPr>
              <p:cNvPr id="288" name="Google Shape;288;p18"/>
              <p:cNvSpPr txBox="1"/>
              <p:nvPr/>
            </p:nvSpPr>
            <p:spPr>
              <a:xfrm>
                <a:off x="114300" y="361950"/>
                <a:ext cx="20001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50">
                    <a:solidFill>
                      <a:srgbClr val="F8FAFC"/>
                    </a:solidFill>
                    <a:latin typeface="Inter SemiBold"/>
                    <a:ea typeface="Inter SemiBold"/>
                    <a:cs typeface="Inter SemiBold"/>
                    <a:sym typeface="Inter SemiBold"/>
                  </a:rPr>
                  <a:t>Intelligent Case Prioritisation</a:t>
                </a:r>
                <a:endParaRPr b="0" sz="950">
                  <a:solidFill>
                    <a:srgbClr val="F8FAFC"/>
                  </a:solidFill>
                  <a:latin typeface="Inter SemiBold"/>
                  <a:ea typeface="Inter SemiBold"/>
                  <a:cs typeface="Inter SemiBold"/>
                  <a:sym typeface="Inter SemiBold"/>
                </a:endParaRPr>
              </a:p>
              <a:p>
                <a:pPr indent="0" lvl="0" marL="0" rtl="0" algn="l">
                  <a:spcBef>
                    <a:spcPts val="450"/>
                  </a:spcBef>
                  <a:spcAft>
                    <a:spcPts val="0"/>
                  </a:spcAft>
                  <a:buNone/>
                </a:pPr>
                <a:r>
                  <a:rPr b="0" lang="en" sz="850">
                    <a:solidFill>
                      <a:srgbClr val="94A3B8"/>
                    </a:solidFill>
                    <a:latin typeface="Inter"/>
                    <a:ea typeface="Inter"/>
                    <a:cs typeface="Inter"/>
                    <a:sym typeface="Inter"/>
                  </a:rPr>
                  <a:t>Does not address core process bottlenecks or produce tangible operational savings for this release phase.</a:t>
                </a:r>
                <a:endParaRPr b="0" sz="850">
                  <a:solidFill>
                    <a:srgbClr val="94A3B8"/>
                  </a:solidFill>
                  <a:latin typeface="Inter"/>
                  <a:ea typeface="Inter"/>
                  <a:cs typeface="Inter"/>
                  <a:sym typeface="Inter"/>
                </a:endParaRPr>
              </a:p>
            </p:txBody>
          </p:sp>
        </p:grpSp>
      </p:grpSp>
      <p:grpSp>
        <p:nvGrpSpPr>
          <p:cNvPr id="289" name="Google Shape;289;p18"/>
          <p:cNvGrpSpPr/>
          <p:nvPr/>
        </p:nvGrpSpPr>
        <p:grpSpPr>
          <a:xfrm>
            <a:off x="6134100" y="1000125"/>
            <a:ext cx="2533800" cy="3667200"/>
            <a:chOff x="0" y="0"/>
            <a:chExt cx="2533800" cy="3667200"/>
          </a:xfrm>
        </p:grpSpPr>
        <p:sp>
          <p:nvSpPr>
            <p:cNvPr id="290" name="Google Shape;290;p18"/>
            <p:cNvSpPr/>
            <p:nvPr/>
          </p:nvSpPr>
          <p:spPr>
            <a:xfrm>
              <a:off x="0" y="0"/>
              <a:ext cx="2533800" cy="3667200"/>
            </a:xfrm>
            <a:prstGeom prst="roundRect">
              <a:avLst>
                <a:gd fmla="val 3007"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1" name="Google Shape;291;p18"/>
            <p:cNvSpPr/>
            <p:nvPr/>
          </p:nvSpPr>
          <p:spPr>
            <a:xfrm>
              <a:off x="0" y="0"/>
              <a:ext cx="2533800" cy="38100"/>
            </a:xfrm>
            <a:prstGeom prst="roundRect">
              <a:avLst>
                <a:gd fmla="val 50000" name="adj"/>
              </a:avLst>
            </a:prstGeom>
            <a:solidFill>
              <a:srgbClr val="1E40A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2" name="Google Shape;292;p18"/>
            <p:cNvSpPr txBox="1"/>
            <p:nvPr/>
          </p:nvSpPr>
          <p:spPr>
            <a:xfrm>
              <a:off x="190500" y="190500"/>
              <a:ext cx="21528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F8FAFC"/>
                  </a:solidFill>
                  <a:latin typeface="Inter"/>
                  <a:ea typeface="Inter"/>
                  <a:cs typeface="Inter"/>
                  <a:sym typeface="Inter"/>
                </a:rPr>
                <a:t>Out of Scope Process</a:t>
              </a:r>
              <a:endParaRPr b="1" sz="1100">
                <a:solidFill>
                  <a:srgbClr val="F8FAFC"/>
                </a:solidFill>
                <a:latin typeface="Inter"/>
                <a:ea typeface="Inter"/>
                <a:cs typeface="Inter"/>
                <a:sym typeface="Inter"/>
              </a:endParaRPr>
            </a:p>
          </p:txBody>
        </p:sp>
        <p:grpSp>
          <p:nvGrpSpPr>
            <p:cNvPr id="293" name="Google Shape;293;p18"/>
            <p:cNvGrpSpPr/>
            <p:nvPr/>
          </p:nvGrpSpPr>
          <p:grpSpPr>
            <a:xfrm>
              <a:off x="152400" y="533400"/>
              <a:ext cx="2229000" cy="2971800"/>
              <a:chOff x="0" y="0"/>
              <a:chExt cx="2229000" cy="2971800"/>
            </a:xfrm>
          </p:grpSpPr>
          <p:sp>
            <p:nvSpPr>
              <p:cNvPr id="294" name="Google Shape;294;p18"/>
              <p:cNvSpPr/>
              <p:nvPr/>
            </p:nvSpPr>
            <p:spPr>
              <a:xfrm>
                <a:off x="0" y="0"/>
                <a:ext cx="2229000" cy="2971800"/>
              </a:xfrm>
              <a:prstGeom prst="roundRect">
                <a:avLst>
                  <a:gd fmla="val 2564"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5" name="Google Shape;295;p18"/>
              <p:cNvSpPr/>
              <p:nvPr/>
            </p:nvSpPr>
            <p:spPr>
              <a:xfrm>
                <a:off x="152400" y="152400"/>
                <a:ext cx="1047900" cy="171600"/>
              </a:xfrm>
              <a:prstGeom prst="roundRect">
                <a:avLst>
                  <a:gd fmla="val 50000" name="adj"/>
                </a:avLst>
              </a:prstGeom>
              <a:solidFill>
                <a:srgbClr val="1E40AF">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6" name="Google Shape;296;p18"/>
              <p:cNvSpPr txBox="1"/>
              <p:nvPr/>
            </p:nvSpPr>
            <p:spPr>
              <a:xfrm>
                <a:off x="152400" y="152400"/>
                <a:ext cx="1047900" cy="171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 sz="600">
                    <a:solidFill>
                      <a:srgbClr val="60A5FA"/>
                    </a:solidFill>
                    <a:latin typeface="Inter"/>
                    <a:ea typeface="Inter"/>
                    <a:cs typeface="Inter"/>
                    <a:sym typeface="Inter"/>
                  </a:rPr>
                  <a:t>MANUAL WORKFLOW</a:t>
                </a:r>
                <a:endParaRPr b="1" i="0" sz="600">
                  <a:solidFill>
                    <a:srgbClr val="60A5FA"/>
                  </a:solidFill>
                  <a:latin typeface="Inter"/>
                  <a:ea typeface="Inter"/>
                  <a:cs typeface="Inter"/>
                  <a:sym typeface="Inter"/>
                </a:endParaRPr>
              </a:p>
            </p:txBody>
          </p:sp>
          <p:sp>
            <p:nvSpPr>
              <p:cNvPr id="297" name="Google Shape;297;p18"/>
              <p:cNvSpPr txBox="1"/>
              <p:nvPr/>
            </p:nvSpPr>
            <p:spPr>
              <a:xfrm>
                <a:off x="152400" y="438150"/>
                <a:ext cx="19242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F8FAFC"/>
                    </a:solidFill>
                    <a:latin typeface="Inter SemiBold"/>
                    <a:ea typeface="Inter SemiBold"/>
                    <a:cs typeface="Inter SemiBold"/>
                    <a:sym typeface="Inter SemiBold"/>
                  </a:rPr>
                  <a:t>Case Escalation</a:t>
                </a:r>
                <a:endParaRPr b="0" sz="1100">
                  <a:solidFill>
                    <a:srgbClr val="F8FAFC"/>
                  </a:solidFill>
                  <a:latin typeface="Inter SemiBold"/>
                  <a:ea typeface="Inter SemiBold"/>
                  <a:cs typeface="Inter SemiBold"/>
                  <a:sym typeface="Inter SemiBold"/>
                </a:endParaRPr>
              </a:p>
              <a:p>
                <a:pPr indent="0" lvl="0" marL="0" rtl="0" algn="l">
                  <a:spcBef>
                    <a:spcPts val="600"/>
                  </a:spcBef>
                  <a:spcAft>
                    <a:spcPts val="0"/>
                  </a:spcAft>
                  <a:buNone/>
                </a:pPr>
                <a:r>
                  <a:rPr b="0" lang="en" sz="900">
                    <a:solidFill>
                      <a:srgbClr val="94A3B8"/>
                    </a:solidFill>
                    <a:latin typeface="Inter"/>
                    <a:ea typeface="Inter"/>
                    <a:cs typeface="Inter"/>
                    <a:sym typeface="Inter"/>
                  </a:rPr>
                  <a:t>Retained under existing manual supervisory workflows; explicitly excluded from Phase 1 automation scope to ensure focus on foundational self-service capability.</a:t>
                </a:r>
                <a:endParaRPr b="0" sz="900">
                  <a:solidFill>
                    <a:srgbClr val="94A3B8"/>
                  </a:solidFill>
                  <a:latin typeface="Inter"/>
                  <a:ea typeface="Inter"/>
                  <a:cs typeface="Inter"/>
                  <a:sym typeface="Inter"/>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01" name="Shape 301"/>
        <p:cNvGrpSpPr/>
        <p:nvPr/>
      </p:nvGrpSpPr>
      <p:grpSpPr>
        <a:xfrm>
          <a:off x="0" y="0"/>
          <a:ext cx="0" cy="0"/>
          <a:chOff x="0" y="0"/>
          <a:chExt cx="0" cy="0"/>
        </a:xfrm>
      </p:grpSpPr>
      <p:grpSp>
        <p:nvGrpSpPr>
          <p:cNvPr id="302" name="Google Shape;302;p19"/>
          <p:cNvGrpSpPr/>
          <p:nvPr/>
        </p:nvGrpSpPr>
        <p:grpSpPr>
          <a:xfrm>
            <a:off x="476250" y="333375"/>
            <a:ext cx="8191500" cy="590550"/>
            <a:chOff x="0" y="0"/>
            <a:chExt cx="8191500" cy="590550"/>
          </a:xfrm>
        </p:grpSpPr>
        <p:sp>
          <p:nvSpPr>
            <p:cNvPr id="303" name="Google Shape;303;p19"/>
            <p:cNvSpPr txBox="1"/>
            <p:nvPr/>
          </p:nvSpPr>
          <p:spPr>
            <a:xfrm>
              <a:off x="0" y="0"/>
              <a:ext cx="8191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38BDF8"/>
                  </a:solidFill>
                  <a:latin typeface="Inter SemiBold"/>
                  <a:ea typeface="Inter SemiBold"/>
                  <a:cs typeface="Inter SemiBold"/>
                  <a:sym typeface="Inter SemiBold"/>
                </a:rPr>
                <a:t>Implementation Scope &amp; Strategy</a:t>
              </a:r>
              <a:endParaRPr b="0" sz="1000">
                <a:solidFill>
                  <a:srgbClr val="38BDF8"/>
                </a:solidFill>
                <a:latin typeface="Inter SemiBold"/>
                <a:ea typeface="Inter SemiBold"/>
                <a:cs typeface="Inter SemiBold"/>
                <a:sym typeface="Inter SemiBold"/>
              </a:endParaRPr>
            </a:p>
          </p:txBody>
        </p:sp>
        <p:sp>
          <p:nvSpPr>
            <p:cNvPr id="304" name="Google Shape;304;p19"/>
            <p:cNvSpPr txBox="1"/>
            <p:nvPr/>
          </p:nvSpPr>
          <p:spPr>
            <a:xfrm>
              <a:off x="0" y="209550"/>
              <a:ext cx="81915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50">
                  <a:solidFill>
                    <a:srgbClr val="FFFFFF"/>
                  </a:solidFill>
                  <a:latin typeface="Inter"/>
                  <a:ea typeface="Inter"/>
                  <a:cs typeface="Inter"/>
                  <a:sym typeface="Inter"/>
                </a:rPr>
                <a:t>Implementation Next Steps: Project Readiness</a:t>
              </a:r>
              <a:endParaRPr b="1" sz="1850">
                <a:solidFill>
                  <a:srgbClr val="FFFFFF"/>
                </a:solidFill>
                <a:latin typeface="Inter"/>
                <a:ea typeface="Inter"/>
                <a:cs typeface="Inter"/>
                <a:sym typeface="Inter"/>
              </a:endParaRPr>
            </a:p>
          </p:txBody>
        </p:sp>
      </p:grpSp>
      <p:grpSp>
        <p:nvGrpSpPr>
          <p:cNvPr id="305" name="Google Shape;305;p19"/>
          <p:cNvGrpSpPr/>
          <p:nvPr/>
        </p:nvGrpSpPr>
        <p:grpSpPr>
          <a:xfrm>
            <a:off x="476250" y="1000125"/>
            <a:ext cx="3981600" cy="3667200"/>
            <a:chOff x="0" y="0"/>
            <a:chExt cx="3981600" cy="3667200"/>
          </a:xfrm>
        </p:grpSpPr>
        <p:sp>
          <p:nvSpPr>
            <p:cNvPr id="306" name="Google Shape;306;p19"/>
            <p:cNvSpPr/>
            <p:nvPr/>
          </p:nvSpPr>
          <p:spPr>
            <a:xfrm>
              <a:off x="0" y="0"/>
              <a:ext cx="3981600" cy="3667200"/>
            </a:xfrm>
            <a:prstGeom prst="roundRect">
              <a:avLst>
                <a:gd fmla="val 2077"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7" name="Google Shape;307;p19"/>
            <p:cNvSpPr/>
            <p:nvPr/>
          </p:nvSpPr>
          <p:spPr>
            <a:xfrm>
              <a:off x="0" y="0"/>
              <a:ext cx="3981600" cy="38100"/>
            </a:xfrm>
            <a:prstGeom prst="roundRect">
              <a:avLst>
                <a:gd fmla="val 5000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8" name="Google Shape;308;p19"/>
            <p:cNvSpPr txBox="1"/>
            <p:nvPr/>
          </p:nvSpPr>
          <p:spPr>
            <a:xfrm>
              <a:off x="190500" y="190500"/>
              <a:ext cx="36006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F8FAFC"/>
                  </a:solidFill>
                  <a:latin typeface="Inter"/>
                  <a:ea typeface="Inter"/>
                  <a:cs typeface="Inter"/>
                  <a:sym typeface="Inter"/>
                </a:rPr>
                <a:t>Jira Backlog &amp; User Stories</a:t>
              </a:r>
              <a:endParaRPr b="1" sz="1100">
                <a:solidFill>
                  <a:srgbClr val="F8FAFC"/>
                </a:solidFill>
                <a:latin typeface="Inter"/>
                <a:ea typeface="Inter"/>
                <a:cs typeface="Inter"/>
                <a:sym typeface="Inter"/>
              </a:endParaRPr>
            </a:p>
          </p:txBody>
        </p:sp>
        <p:grpSp>
          <p:nvGrpSpPr>
            <p:cNvPr id="309" name="Google Shape;309;p19"/>
            <p:cNvGrpSpPr/>
            <p:nvPr/>
          </p:nvGrpSpPr>
          <p:grpSpPr>
            <a:xfrm>
              <a:off x="190500" y="514350"/>
              <a:ext cx="3600450" cy="714300"/>
              <a:chOff x="0" y="0"/>
              <a:chExt cx="3600450" cy="714300"/>
            </a:xfrm>
          </p:grpSpPr>
          <p:grpSp>
            <p:nvGrpSpPr>
              <p:cNvPr id="310" name="Google Shape;310;p19"/>
              <p:cNvGrpSpPr/>
              <p:nvPr/>
            </p:nvGrpSpPr>
            <p:grpSpPr>
              <a:xfrm>
                <a:off x="0" y="0"/>
                <a:ext cx="1714500" cy="714300"/>
                <a:chOff x="0" y="0"/>
                <a:chExt cx="1714500" cy="714300"/>
              </a:xfrm>
            </p:grpSpPr>
            <p:sp>
              <p:nvSpPr>
                <p:cNvPr id="311" name="Google Shape;311;p19"/>
                <p:cNvSpPr/>
                <p:nvPr/>
              </p:nvSpPr>
              <p:spPr>
                <a:xfrm>
                  <a:off x="0" y="0"/>
                  <a:ext cx="1714500" cy="714300"/>
                </a:xfrm>
                <a:prstGeom prst="roundRect">
                  <a:avLst>
                    <a:gd fmla="val 8000"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2" name="Google Shape;312;p19"/>
                <p:cNvSpPr txBox="1"/>
                <p:nvPr/>
              </p:nvSpPr>
              <p:spPr>
                <a:xfrm>
                  <a:off x="152400" y="95250"/>
                  <a:ext cx="1409700" cy="362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240">
                      <a:solidFill>
                        <a:srgbClr val="38BDF8"/>
                      </a:solidFill>
                      <a:latin typeface="Inter ExtraBold"/>
                      <a:ea typeface="Inter ExtraBold"/>
                      <a:cs typeface="Inter ExtraBold"/>
                      <a:sym typeface="Inter ExtraBold"/>
                    </a:rPr>
                    <a:t>53</a:t>
                  </a:r>
                  <a:endParaRPr b="0" sz="2240">
                    <a:solidFill>
                      <a:srgbClr val="38BDF8"/>
                    </a:solidFill>
                    <a:latin typeface="Inter ExtraBold"/>
                    <a:ea typeface="Inter ExtraBold"/>
                    <a:cs typeface="Inter ExtraBold"/>
                    <a:sym typeface="Inter ExtraBold"/>
                  </a:endParaRPr>
                </a:p>
              </p:txBody>
            </p:sp>
            <p:sp>
              <p:nvSpPr>
                <p:cNvPr id="313" name="Google Shape;313;p19"/>
                <p:cNvSpPr txBox="1"/>
                <p:nvPr/>
              </p:nvSpPr>
              <p:spPr>
                <a:xfrm>
                  <a:off x="152400" y="457200"/>
                  <a:ext cx="14097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900">
                      <a:solidFill>
                        <a:srgbClr val="94A3B8"/>
                      </a:solidFill>
                      <a:latin typeface="Inter SemiBold"/>
                      <a:ea typeface="Inter SemiBold"/>
                      <a:cs typeface="Inter SemiBold"/>
                      <a:sym typeface="Inter SemiBold"/>
                    </a:rPr>
                    <a:t>User Stories Collected</a:t>
                  </a:r>
                  <a:endParaRPr b="0" sz="900">
                    <a:solidFill>
                      <a:srgbClr val="94A3B8"/>
                    </a:solidFill>
                    <a:latin typeface="Inter SemiBold"/>
                    <a:ea typeface="Inter SemiBold"/>
                    <a:cs typeface="Inter SemiBold"/>
                    <a:sym typeface="Inter SemiBold"/>
                  </a:endParaRPr>
                </a:p>
              </p:txBody>
            </p:sp>
          </p:grpSp>
          <p:grpSp>
            <p:nvGrpSpPr>
              <p:cNvPr id="314" name="Google Shape;314;p19"/>
              <p:cNvGrpSpPr/>
              <p:nvPr/>
            </p:nvGrpSpPr>
            <p:grpSpPr>
              <a:xfrm>
                <a:off x="1885950" y="0"/>
                <a:ext cx="1714500" cy="714300"/>
                <a:chOff x="0" y="0"/>
                <a:chExt cx="1714500" cy="714300"/>
              </a:xfrm>
            </p:grpSpPr>
            <p:sp>
              <p:nvSpPr>
                <p:cNvPr id="315" name="Google Shape;315;p19"/>
                <p:cNvSpPr/>
                <p:nvPr/>
              </p:nvSpPr>
              <p:spPr>
                <a:xfrm>
                  <a:off x="0" y="0"/>
                  <a:ext cx="1714500" cy="714300"/>
                </a:xfrm>
                <a:prstGeom prst="roundRect">
                  <a:avLst>
                    <a:gd fmla="val 8000"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6" name="Google Shape;316;p19"/>
                <p:cNvSpPr txBox="1"/>
                <p:nvPr/>
              </p:nvSpPr>
              <p:spPr>
                <a:xfrm>
                  <a:off x="152400" y="95250"/>
                  <a:ext cx="1409700" cy="362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240">
                      <a:solidFill>
                        <a:srgbClr val="38BDF8"/>
                      </a:solidFill>
                      <a:latin typeface="Inter ExtraBold"/>
                      <a:ea typeface="Inter ExtraBold"/>
                      <a:cs typeface="Inter ExtraBold"/>
                      <a:sym typeface="Inter ExtraBold"/>
                    </a:rPr>
                    <a:t>10</a:t>
                  </a:r>
                  <a:endParaRPr b="0" sz="2240">
                    <a:solidFill>
                      <a:srgbClr val="38BDF8"/>
                    </a:solidFill>
                    <a:latin typeface="Inter ExtraBold"/>
                    <a:ea typeface="Inter ExtraBold"/>
                    <a:cs typeface="Inter ExtraBold"/>
                    <a:sym typeface="Inter ExtraBold"/>
                  </a:endParaRPr>
                </a:p>
              </p:txBody>
            </p:sp>
            <p:sp>
              <p:nvSpPr>
                <p:cNvPr id="317" name="Google Shape;317;p19"/>
                <p:cNvSpPr txBox="1"/>
                <p:nvPr/>
              </p:nvSpPr>
              <p:spPr>
                <a:xfrm>
                  <a:off x="152400" y="457200"/>
                  <a:ext cx="14097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900">
                      <a:solidFill>
                        <a:srgbClr val="94A3B8"/>
                      </a:solidFill>
                      <a:latin typeface="Inter SemiBold"/>
                      <a:ea typeface="Inter SemiBold"/>
                      <a:cs typeface="Inter SemiBold"/>
                      <a:sym typeface="Inter SemiBold"/>
                    </a:rPr>
                    <a:t>Core Features</a:t>
                  </a:r>
                  <a:endParaRPr b="0" sz="900">
                    <a:solidFill>
                      <a:srgbClr val="94A3B8"/>
                    </a:solidFill>
                    <a:latin typeface="Inter SemiBold"/>
                    <a:ea typeface="Inter SemiBold"/>
                    <a:cs typeface="Inter SemiBold"/>
                    <a:sym typeface="Inter SemiBold"/>
                  </a:endParaRPr>
                </a:p>
              </p:txBody>
            </p:sp>
          </p:grpSp>
        </p:grpSp>
        <p:grpSp>
          <p:nvGrpSpPr>
            <p:cNvPr id="318" name="Google Shape;318;p19"/>
            <p:cNvGrpSpPr/>
            <p:nvPr/>
          </p:nvGrpSpPr>
          <p:grpSpPr>
            <a:xfrm>
              <a:off x="190500" y="1381125"/>
              <a:ext cx="3600600" cy="1000200"/>
              <a:chOff x="0" y="0"/>
              <a:chExt cx="3600600" cy="1000200"/>
            </a:xfrm>
          </p:grpSpPr>
          <p:sp>
            <p:nvSpPr>
              <p:cNvPr id="319" name="Google Shape;319;p19"/>
              <p:cNvSpPr/>
              <p:nvPr/>
            </p:nvSpPr>
            <p:spPr>
              <a:xfrm>
                <a:off x="0" y="0"/>
                <a:ext cx="3600600" cy="1000200"/>
              </a:xfrm>
              <a:prstGeom prst="roundRect">
                <a:avLst>
                  <a:gd fmla="val 5714"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0" name="Google Shape;320;p19"/>
              <p:cNvSpPr/>
              <p:nvPr/>
            </p:nvSpPr>
            <p:spPr>
              <a:xfrm>
                <a:off x="114300" y="114300"/>
                <a:ext cx="1047900" cy="171600"/>
              </a:xfrm>
              <a:prstGeom prst="roundRect">
                <a:avLst>
                  <a:gd fmla="val 50000" name="adj"/>
                </a:avLst>
              </a:prstGeom>
              <a:solidFill>
                <a:srgbClr val="1E40AF">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1" name="Google Shape;321;p19"/>
              <p:cNvSpPr txBox="1"/>
              <p:nvPr/>
            </p:nvSpPr>
            <p:spPr>
              <a:xfrm>
                <a:off x="114300" y="114300"/>
                <a:ext cx="10479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60A5FA"/>
                    </a:solidFill>
                    <a:latin typeface="Inter"/>
                    <a:ea typeface="Inter"/>
                    <a:cs typeface="Inter"/>
                    <a:sym typeface="Inter"/>
                  </a:rPr>
                  <a:t>PRIORITISED SCOPE</a:t>
                </a:r>
                <a:endParaRPr b="1" sz="600">
                  <a:solidFill>
                    <a:srgbClr val="60A5FA"/>
                  </a:solidFill>
                  <a:latin typeface="Inter"/>
                  <a:ea typeface="Inter"/>
                  <a:cs typeface="Inter"/>
                  <a:sym typeface="Inter"/>
                </a:endParaRPr>
              </a:p>
            </p:txBody>
          </p:sp>
          <p:sp>
            <p:nvSpPr>
              <p:cNvPr id="322" name="Google Shape;322;p19"/>
              <p:cNvSpPr txBox="1"/>
              <p:nvPr/>
            </p:nvSpPr>
            <p:spPr>
              <a:xfrm>
                <a:off x="114300" y="361950"/>
                <a:ext cx="337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79">
                    <a:solidFill>
                      <a:srgbClr val="F8FAFC"/>
                    </a:solidFill>
                    <a:latin typeface="Inter SemiBold"/>
                    <a:ea typeface="Inter SemiBold"/>
                    <a:cs typeface="Inter SemiBold"/>
                    <a:sym typeface="Inter SemiBold"/>
                  </a:rPr>
                  <a:t>Fully Prioritised Backlog</a:t>
                </a:r>
                <a:endParaRPr b="0" sz="879">
                  <a:solidFill>
                    <a:srgbClr val="F8FAFC"/>
                  </a:solidFill>
                  <a:latin typeface="Inter SemiBold"/>
                  <a:ea typeface="Inter SemiBold"/>
                  <a:cs typeface="Inter SemiBold"/>
                  <a:sym typeface="Inter SemiBold"/>
                </a:endParaRPr>
              </a:p>
              <a:p>
                <a:pPr indent="0" lvl="0" marL="0" rtl="0" algn="l">
                  <a:spcBef>
                    <a:spcPts val="450"/>
                  </a:spcBef>
                  <a:spcAft>
                    <a:spcPts val="0"/>
                  </a:spcAft>
                  <a:buNone/>
                </a:pPr>
                <a:r>
                  <a:rPr b="0" lang="en" sz="786">
                    <a:solidFill>
                      <a:srgbClr val="94A3B8"/>
                    </a:solidFill>
                    <a:latin typeface="Inter"/>
                    <a:ea typeface="Inter"/>
                    <a:cs typeface="Inter"/>
                    <a:sym typeface="Inter"/>
                  </a:rPr>
                  <a:t>All user stories are categorised by business value and technical dependency, ensuring immediate sprint readiness for Phase 1 execution.</a:t>
                </a:r>
                <a:endParaRPr b="0" sz="786">
                  <a:solidFill>
                    <a:srgbClr val="94A3B8"/>
                  </a:solidFill>
                  <a:latin typeface="Inter"/>
                  <a:ea typeface="Inter"/>
                  <a:cs typeface="Inter"/>
                  <a:sym typeface="Inter"/>
                </a:endParaRPr>
              </a:p>
            </p:txBody>
          </p:sp>
        </p:grpSp>
        <p:grpSp>
          <p:nvGrpSpPr>
            <p:cNvPr id="323" name="Google Shape;323;p19"/>
            <p:cNvGrpSpPr/>
            <p:nvPr/>
          </p:nvGrpSpPr>
          <p:grpSpPr>
            <a:xfrm>
              <a:off x="190500" y="2476500"/>
              <a:ext cx="3600600" cy="1000200"/>
              <a:chOff x="0" y="0"/>
              <a:chExt cx="3600600" cy="1000200"/>
            </a:xfrm>
          </p:grpSpPr>
          <p:sp>
            <p:nvSpPr>
              <p:cNvPr id="324" name="Google Shape;324;p19"/>
              <p:cNvSpPr/>
              <p:nvPr/>
            </p:nvSpPr>
            <p:spPr>
              <a:xfrm>
                <a:off x="0" y="0"/>
                <a:ext cx="3600600" cy="1000200"/>
              </a:xfrm>
              <a:prstGeom prst="roundRect">
                <a:avLst>
                  <a:gd fmla="val 5714"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5" name="Google Shape;325;p19"/>
              <p:cNvSpPr/>
              <p:nvPr/>
            </p:nvSpPr>
            <p:spPr>
              <a:xfrm>
                <a:off x="114300" y="114300"/>
                <a:ext cx="1047900" cy="171600"/>
              </a:xfrm>
              <a:prstGeom prst="roundRect">
                <a:avLst>
                  <a:gd fmla="val 50000" name="adj"/>
                </a:avLst>
              </a:prstGeom>
              <a:solidFill>
                <a:srgbClr val="1E40AF">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6" name="Google Shape;326;p19"/>
              <p:cNvSpPr txBox="1"/>
              <p:nvPr/>
            </p:nvSpPr>
            <p:spPr>
              <a:xfrm>
                <a:off x="114300" y="114300"/>
                <a:ext cx="10479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60A5FA"/>
                    </a:solidFill>
                    <a:latin typeface="Inter"/>
                    <a:ea typeface="Inter"/>
                    <a:cs typeface="Inter"/>
                    <a:sym typeface="Inter"/>
                  </a:rPr>
                  <a:t>WORK READY</a:t>
                </a:r>
                <a:endParaRPr b="1" sz="600">
                  <a:solidFill>
                    <a:srgbClr val="60A5FA"/>
                  </a:solidFill>
                  <a:latin typeface="Inter"/>
                  <a:ea typeface="Inter"/>
                  <a:cs typeface="Inter"/>
                  <a:sym typeface="Inter"/>
                </a:endParaRPr>
              </a:p>
            </p:txBody>
          </p:sp>
          <p:sp>
            <p:nvSpPr>
              <p:cNvPr id="327" name="Google Shape;327;p19"/>
              <p:cNvSpPr txBox="1"/>
              <p:nvPr/>
            </p:nvSpPr>
            <p:spPr>
              <a:xfrm>
                <a:off x="114300" y="361950"/>
                <a:ext cx="337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79">
                    <a:solidFill>
                      <a:srgbClr val="F8FAFC"/>
                    </a:solidFill>
                    <a:latin typeface="Inter SemiBold"/>
                    <a:ea typeface="Inter SemiBold"/>
                    <a:cs typeface="Inter SemiBold"/>
                    <a:sym typeface="Inter SemiBold"/>
                  </a:rPr>
                  <a:t>Collated in Jira</a:t>
                </a:r>
                <a:endParaRPr b="0" sz="879">
                  <a:solidFill>
                    <a:srgbClr val="F8FAFC"/>
                  </a:solidFill>
                  <a:latin typeface="Inter SemiBold"/>
                  <a:ea typeface="Inter SemiBold"/>
                  <a:cs typeface="Inter SemiBold"/>
                  <a:sym typeface="Inter SemiBold"/>
                </a:endParaRPr>
              </a:p>
              <a:p>
                <a:pPr indent="0" lvl="0" marL="0" rtl="0" algn="l">
                  <a:spcBef>
                    <a:spcPts val="450"/>
                  </a:spcBef>
                  <a:spcAft>
                    <a:spcPts val="0"/>
                  </a:spcAft>
                  <a:buNone/>
                </a:pPr>
                <a:r>
                  <a:rPr b="0" lang="en" sz="786">
                    <a:solidFill>
                      <a:srgbClr val="94A3B8"/>
                    </a:solidFill>
                    <a:latin typeface="Inter"/>
                    <a:ea typeface="Inter"/>
                    <a:cs typeface="Inter"/>
                    <a:sym typeface="Inter"/>
                  </a:rPr>
                  <a:t>Structured into complete epic and story hierarchies, ready for immediate team onboarding, refinement, and delivery tracking.</a:t>
                </a:r>
                <a:endParaRPr b="0" sz="786">
                  <a:solidFill>
                    <a:srgbClr val="94A3B8"/>
                  </a:solidFill>
                  <a:latin typeface="Inter"/>
                  <a:ea typeface="Inter"/>
                  <a:cs typeface="Inter"/>
                  <a:sym typeface="Inter"/>
                </a:endParaRPr>
              </a:p>
            </p:txBody>
          </p:sp>
        </p:grpSp>
      </p:grpSp>
      <p:grpSp>
        <p:nvGrpSpPr>
          <p:cNvPr id="328" name="Google Shape;328;p19"/>
          <p:cNvGrpSpPr/>
          <p:nvPr/>
        </p:nvGrpSpPr>
        <p:grpSpPr>
          <a:xfrm>
            <a:off x="4686300" y="1000125"/>
            <a:ext cx="3981600" cy="3667200"/>
            <a:chOff x="0" y="0"/>
            <a:chExt cx="3981600" cy="3667200"/>
          </a:xfrm>
        </p:grpSpPr>
        <p:sp>
          <p:nvSpPr>
            <p:cNvPr id="329" name="Google Shape;329;p19"/>
            <p:cNvSpPr/>
            <p:nvPr/>
          </p:nvSpPr>
          <p:spPr>
            <a:xfrm>
              <a:off x="0" y="0"/>
              <a:ext cx="3981600" cy="3667200"/>
            </a:xfrm>
            <a:prstGeom prst="roundRect">
              <a:avLst>
                <a:gd fmla="val 2077"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0" name="Google Shape;330;p19"/>
            <p:cNvSpPr/>
            <p:nvPr/>
          </p:nvSpPr>
          <p:spPr>
            <a:xfrm>
              <a:off x="0" y="0"/>
              <a:ext cx="3981600" cy="381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1" name="Google Shape;331;p19"/>
            <p:cNvSpPr txBox="1"/>
            <p:nvPr/>
          </p:nvSpPr>
          <p:spPr>
            <a:xfrm>
              <a:off x="190500" y="190500"/>
              <a:ext cx="36006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F8FAFC"/>
                  </a:solidFill>
                  <a:latin typeface="Inter"/>
                  <a:ea typeface="Inter"/>
                  <a:cs typeface="Inter"/>
                  <a:sym typeface="Inter"/>
                </a:rPr>
                <a:t>Interactive Working Prototype</a:t>
              </a:r>
              <a:endParaRPr b="1" sz="1100">
                <a:solidFill>
                  <a:srgbClr val="F8FAFC"/>
                </a:solidFill>
                <a:latin typeface="Inter"/>
                <a:ea typeface="Inter"/>
                <a:cs typeface="Inter"/>
                <a:sym typeface="Inter"/>
              </a:endParaRPr>
            </a:p>
          </p:txBody>
        </p:sp>
        <p:grpSp>
          <p:nvGrpSpPr>
            <p:cNvPr id="332" name="Google Shape;332;p19"/>
            <p:cNvGrpSpPr/>
            <p:nvPr/>
          </p:nvGrpSpPr>
          <p:grpSpPr>
            <a:xfrm>
              <a:off x="190500" y="514350"/>
              <a:ext cx="3600600" cy="904800"/>
              <a:chOff x="0" y="0"/>
              <a:chExt cx="3600600" cy="904800"/>
            </a:xfrm>
          </p:grpSpPr>
          <p:sp>
            <p:nvSpPr>
              <p:cNvPr id="333" name="Google Shape;333;p19"/>
              <p:cNvSpPr/>
              <p:nvPr/>
            </p:nvSpPr>
            <p:spPr>
              <a:xfrm>
                <a:off x="0" y="0"/>
                <a:ext cx="3600600" cy="904800"/>
              </a:xfrm>
              <a:prstGeom prst="roundRect">
                <a:avLst>
                  <a:gd fmla="val 6315"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4" name="Google Shape;334;p19"/>
              <p:cNvSpPr/>
              <p:nvPr/>
            </p:nvSpPr>
            <p:spPr>
              <a:xfrm>
                <a:off x="114300" y="114300"/>
                <a:ext cx="1047900" cy="171600"/>
              </a:xfrm>
              <a:prstGeom prst="roundRect">
                <a:avLst>
                  <a:gd fmla="val 50000" name="adj"/>
                </a:avLst>
              </a:prstGeom>
              <a:solidFill>
                <a:srgbClr val="065F46">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5" name="Google Shape;335;p19"/>
              <p:cNvSpPr txBox="1"/>
              <p:nvPr/>
            </p:nvSpPr>
            <p:spPr>
              <a:xfrm>
                <a:off x="114300" y="114300"/>
                <a:ext cx="10479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34D399"/>
                    </a:solidFill>
                    <a:latin typeface="Inter"/>
                    <a:ea typeface="Inter"/>
                    <a:cs typeface="Inter"/>
                    <a:sym typeface="Inter"/>
                  </a:rPr>
                  <a:t>END-TO-END FLOWS</a:t>
                </a:r>
                <a:endParaRPr b="1" sz="600">
                  <a:solidFill>
                    <a:srgbClr val="34D399"/>
                  </a:solidFill>
                  <a:latin typeface="Inter"/>
                  <a:ea typeface="Inter"/>
                  <a:cs typeface="Inter"/>
                  <a:sym typeface="Inter"/>
                </a:endParaRPr>
              </a:p>
            </p:txBody>
          </p:sp>
          <p:sp>
            <p:nvSpPr>
              <p:cNvPr id="336" name="Google Shape;336;p19"/>
              <p:cNvSpPr txBox="1"/>
              <p:nvPr/>
            </p:nvSpPr>
            <p:spPr>
              <a:xfrm>
                <a:off x="114300" y="361950"/>
                <a:ext cx="3372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79">
                    <a:solidFill>
                      <a:srgbClr val="F8FAFC"/>
                    </a:solidFill>
                    <a:latin typeface="Inter SemiBold"/>
                    <a:ea typeface="Inter SemiBold"/>
                    <a:cs typeface="Inter SemiBold"/>
                    <a:sym typeface="Inter SemiBold"/>
                  </a:rPr>
                  <a:t>Happy &amp; Exception Paths</a:t>
                </a:r>
                <a:endParaRPr b="0" sz="879">
                  <a:solidFill>
                    <a:srgbClr val="F8FAFC"/>
                  </a:solidFill>
                  <a:latin typeface="Inter SemiBold"/>
                  <a:ea typeface="Inter SemiBold"/>
                  <a:cs typeface="Inter SemiBold"/>
                  <a:sym typeface="Inter SemiBold"/>
                </a:endParaRPr>
              </a:p>
              <a:p>
                <a:pPr indent="0" lvl="0" marL="0" rtl="0" algn="l">
                  <a:spcBef>
                    <a:spcPts val="450"/>
                  </a:spcBef>
                  <a:spcAft>
                    <a:spcPts val="0"/>
                  </a:spcAft>
                  <a:buNone/>
                </a:pPr>
                <a:r>
                  <a:rPr b="0" lang="en" sz="786">
                    <a:solidFill>
                      <a:srgbClr val="94A3B8"/>
                    </a:solidFill>
                    <a:latin typeface="Inter"/>
                    <a:ea typeface="Inter"/>
                    <a:cs typeface="Inter"/>
                    <a:sym typeface="Inter"/>
                  </a:rPr>
                  <a:t>Comprehensive interactive journeys built to validate seamless payment processing alongside robust edge-case handling.</a:t>
                </a:r>
                <a:endParaRPr b="0" sz="786">
                  <a:solidFill>
                    <a:srgbClr val="94A3B8"/>
                  </a:solidFill>
                  <a:latin typeface="Inter"/>
                  <a:ea typeface="Inter"/>
                  <a:cs typeface="Inter"/>
                  <a:sym typeface="Inter"/>
                </a:endParaRPr>
              </a:p>
            </p:txBody>
          </p:sp>
        </p:grpSp>
        <p:grpSp>
          <p:nvGrpSpPr>
            <p:cNvPr id="337" name="Google Shape;337;p19"/>
            <p:cNvGrpSpPr/>
            <p:nvPr/>
          </p:nvGrpSpPr>
          <p:grpSpPr>
            <a:xfrm>
              <a:off x="190500" y="1524000"/>
              <a:ext cx="3600600" cy="904800"/>
              <a:chOff x="0" y="0"/>
              <a:chExt cx="3600600" cy="904800"/>
            </a:xfrm>
          </p:grpSpPr>
          <p:sp>
            <p:nvSpPr>
              <p:cNvPr id="338" name="Google Shape;338;p19"/>
              <p:cNvSpPr/>
              <p:nvPr/>
            </p:nvSpPr>
            <p:spPr>
              <a:xfrm>
                <a:off x="0" y="0"/>
                <a:ext cx="3600600" cy="904800"/>
              </a:xfrm>
              <a:prstGeom prst="roundRect">
                <a:avLst>
                  <a:gd fmla="val 6315"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9" name="Google Shape;339;p19"/>
              <p:cNvSpPr/>
              <p:nvPr/>
            </p:nvSpPr>
            <p:spPr>
              <a:xfrm>
                <a:off x="114300" y="114300"/>
                <a:ext cx="1047900" cy="171600"/>
              </a:xfrm>
              <a:prstGeom prst="roundRect">
                <a:avLst>
                  <a:gd fmla="val 50000" name="adj"/>
                </a:avLst>
              </a:prstGeom>
              <a:solidFill>
                <a:srgbClr val="065F46">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0" name="Google Shape;340;p19"/>
              <p:cNvSpPr txBox="1"/>
              <p:nvPr/>
            </p:nvSpPr>
            <p:spPr>
              <a:xfrm>
                <a:off x="114300" y="114300"/>
                <a:ext cx="10479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34D399"/>
                    </a:solidFill>
                    <a:latin typeface="Inter"/>
                    <a:ea typeface="Inter"/>
                    <a:cs typeface="Inter"/>
                    <a:sym typeface="Inter"/>
                  </a:rPr>
                  <a:t>FULL COVERAGE</a:t>
                </a:r>
                <a:endParaRPr b="1" sz="600">
                  <a:solidFill>
                    <a:srgbClr val="34D399"/>
                  </a:solidFill>
                  <a:latin typeface="Inter"/>
                  <a:ea typeface="Inter"/>
                  <a:cs typeface="Inter"/>
                  <a:sym typeface="Inter"/>
                </a:endParaRPr>
              </a:p>
            </p:txBody>
          </p:sp>
          <p:sp>
            <p:nvSpPr>
              <p:cNvPr id="341" name="Google Shape;341;p19"/>
              <p:cNvSpPr txBox="1"/>
              <p:nvPr/>
            </p:nvSpPr>
            <p:spPr>
              <a:xfrm>
                <a:off x="114300" y="361950"/>
                <a:ext cx="3372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79">
                    <a:solidFill>
                      <a:srgbClr val="F8FAFC"/>
                    </a:solidFill>
                    <a:latin typeface="Inter SemiBold"/>
                    <a:ea typeface="Inter SemiBold"/>
                    <a:cs typeface="Inter SemiBold"/>
                    <a:sym typeface="Inter SemiBold"/>
                  </a:rPr>
                  <a:t>All Features Demoed</a:t>
                </a:r>
                <a:endParaRPr b="0" sz="879">
                  <a:solidFill>
                    <a:srgbClr val="F8FAFC"/>
                  </a:solidFill>
                  <a:latin typeface="Inter SemiBold"/>
                  <a:ea typeface="Inter SemiBold"/>
                  <a:cs typeface="Inter SemiBold"/>
                  <a:sym typeface="Inter SemiBold"/>
                </a:endParaRPr>
              </a:p>
              <a:p>
                <a:pPr indent="0" lvl="0" marL="0" rtl="0" algn="l">
                  <a:spcBef>
                    <a:spcPts val="450"/>
                  </a:spcBef>
                  <a:spcAft>
                    <a:spcPts val="0"/>
                  </a:spcAft>
                  <a:buNone/>
                </a:pPr>
                <a:r>
                  <a:rPr b="0" lang="en" sz="786">
                    <a:solidFill>
                      <a:srgbClr val="94A3B8"/>
                    </a:solidFill>
                    <a:latin typeface="Inter"/>
                    <a:ea typeface="Inter"/>
                    <a:cs typeface="Inter"/>
                    <a:sym typeface="Inter"/>
                  </a:rPr>
                  <a:t>Every planned Phase 1 capability is fully visualised and functional within the prototype environment for operational review.</a:t>
                </a:r>
                <a:endParaRPr b="0" sz="786">
                  <a:solidFill>
                    <a:srgbClr val="94A3B8"/>
                  </a:solidFill>
                  <a:latin typeface="Inter"/>
                  <a:ea typeface="Inter"/>
                  <a:cs typeface="Inter"/>
                  <a:sym typeface="Inter"/>
                </a:endParaRPr>
              </a:p>
            </p:txBody>
          </p:sp>
        </p:grpSp>
        <p:grpSp>
          <p:nvGrpSpPr>
            <p:cNvPr id="342" name="Google Shape;342;p19"/>
            <p:cNvGrpSpPr/>
            <p:nvPr/>
          </p:nvGrpSpPr>
          <p:grpSpPr>
            <a:xfrm>
              <a:off x="190500" y="2533650"/>
              <a:ext cx="3600600" cy="942900"/>
              <a:chOff x="0" y="0"/>
              <a:chExt cx="3600600" cy="942900"/>
            </a:xfrm>
          </p:grpSpPr>
          <p:sp>
            <p:nvSpPr>
              <p:cNvPr id="343" name="Google Shape;343;p19"/>
              <p:cNvSpPr/>
              <p:nvPr/>
            </p:nvSpPr>
            <p:spPr>
              <a:xfrm>
                <a:off x="0" y="0"/>
                <a:ext cx="3600600" cy="942900"/>
              </a:xfrm>
              <a:prstGeom prst="roundRect">
                <a:avLst>
                  <a:gd fmla="val 6060"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4" name="Google Shape;344;p19"/>
              <p:cNvSpPr/>
              <p:nvPr/>
            </p:nvSpPr>
            <p:spPr>
              <a:xfrm>
                <a:off x="114300" y="114300"/>
                <a:ext cx="1143000" cy="171600"/>
              </a:xfrm>
              <a:prstGeom prst="roundRect">
                <a:avLst>
                  <a:gd fmla="val 50000" name="adj"/>
                </a:avLst>
              </a:prstGeom>
              <a:solidFill>
                <a:srgbClr val="065F46">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5" name="Google Shape;345;p19"/>
              <p:cNvSpPr txBox="1"/>
              <p:nvPr/>
            </p:nvSpPr>
            <p:spPr>
              <a:xfrm>
                <a:off x="114300" y="114300"/>
                <a:ext cx="11430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34D399"/>
                    </a:solidFill>
                    <a:latin typeface="Inter"/>
                    <a:ea typeface="Inter"/>
                    <a:cs typeface="Inter"/>
                    <a:sym typeface="Inter"/>
                  </a:rPr>
                  <a:t>STAKEHOLDER READY</a:t>
                </a:r>
                <a:endParaRPr b="1" sz="600">
                  <a:solidFill>
                    <a:srgbClr val="34D399"/>
                  </a:solidFill>
                  <a:latin typeface="Inter"/>
                  <a:ea typeface="Inter"/>
                  <a:cs typeface="Inter"/>
                  <a:sym typeface="Inter"/>
                </a:endParaRPr>
              </a:p>
            </p:txBody>
          </p:sp>
          <p:sp>
            <p:nvSpPr>
              <p:cNvPr id="346" name="Google Shape;346;p19"/>
              <p:cNvSpPr txBox="1"/>
              <p:nvPr/>
            </p:nvSpPr>
            <p:spPr>
              <a:xfrm>
                <a:off x="114300" y="361950"/>
                <a:ext cx="3372000" cy="49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79">
                    <a:solidFill>
                      <a:schemeClr val="lt1"/>
                    </a:solidFill>
                    <a:latin typeface="Inter SemiBold"/>
                    <a:ea typeface="Inter SemiBold"/>
                    <a:cs typeface="Inter SemiBold"/>
                    <a:sym typeface="Inter SemiBold"/>
                  </a:rPr>
                  <a:t>Ready for Stakeholder Input</a:t>
                </a:r>
                <a:endParaRPr b="0" sz="879">
                  <a:solidFill>
                    <a:schemeClr val="lt1"/>
                  </a:solidFill>
                  <a:latin typeface="Inter SemiBold"/>
                  <a:ea typeface="Inter SemiBold"/>
                  <a:cs typeface="Inter SemiBold"/>
                  <a:sym typeface="Inter SemiBold"/>
                </a:endParaRPr>
              </a:p>
              <a:p>
                <a:pPr indent="0" lvl="0" marL="0" rtl="0" algn="l">
                  <a:spcBef>
                    <a:spcPts val="450"/>
                  </a:spcBef>
                  <a:spcAft>
                    <a:spcPts val="0"/>
                  </a:spcAft>
                  <a:buNone/>
                </a:pPr>
                <a:r>
                  <a:rPr b="0" lang="en" sz="786">
                    <a:solidFill>
                      <a:srgbClr val="94A3B8"/>
                    </a:solidFill>
                    <a:latin typeface="Inter"/>
                    <a:ea typeface="Inter"/>
                    <a:cs typeface="Inter"/>
                    <a:sym typeface="Inter"/>
                  </a:rPr>
                  <a:t>Prepared for immediate distribution to gather final user feedback, sign-off, and executive alignment.</a:t>
                </a:r>
                <a:endParaRPr b="0" sz="786">
                  <a:solidFill>
                    <a:srgbClr val="94A3B8"/>
                  </a:solidFill>
                  <a:latin typeface="Inter"/>
                  <a:ea typeface="Inter"/>
                  <a:cs typeface="Inter"/>
                  <a:sym typeface="Inter"/>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50" name="Shape 350"/>
        <p:cNvGrpSpPr/>
        <p:nvPr/>
      </p:nvGrpSpPr>
      <p:grpSpPr>
        <a:xfrm>
          <a:off x="0" y="0"/>
          <a:ext cx="0" cy="0"/>
          <a:chOff x="0" y="0"/>
          <a:chExt cx="0" cy="0"/>
        </a:xfrm>
      </p:grpSpPr>
      <p:grpSp>
        <p:nvGrpSpPr>
          <p:cNvPr id="351" name="Google Shape;351;p20"/>
          <p:cNvGrpSpPr/>
          <p:nvPr/>
        </p:nvGrpSpPr>
        <p:grpSpPr>
          <a:xfrm>
            <a:off x="476250" y="333375"/>
            <a:ext cx="8191500" cy="590550"/>
            <a:chOff x="0" y="0"/>
            <a:chExt cx="8191500" cy="590550"/>
          </a:xfrm>
        </p:grpSpPr>
        <p:sp>
          <p:nvSpPr>
            <p:cNvPr id="352" name="Google Shape;352;p20"/>
            <p:cNvSpPr txBox="1"/>
            <p:nvPr/>
          </p:nvSpPr>
          <p:spPr>
            <a:xfrm>
              <a:off x="0" y="0"/>
              <a:ext cx="8191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F43F5E"/>
                  </a:solidFill>
                  <a:latin typeface="Inter SemiBold"/>
                  <a:ea typeface="Inter SemiBold"/>
                  <a:cs typeface="Inter SemiBold"/>
                  <a:sym typeface="Inter SemiBold"/>
                </a:rPr>
                <a:t>Risk Management Strategy</a:t>
              </a:r>
              <a:endParaRPr b="0" sz="1000">
                <a:solidFill>
                  <a:srgbClr val="F43F5E"/>
                </a:solidFill>
                <a:latin typeface="Inter SemiBold"/>
                <a:ea typeface="Inter SemiBold"/>
                <a:cs typeface="Inter SemiBold"/>
                <a:sym typeface="Inter SemiBold"/>
              </a:endParaRPr>
            </a:p>
          </p:txBody>
        </p:sp>
        <p:sp>
          <p:nvSpPr>
            <p:cNvPr id="353" name="Google Shape;353;p20"/>
            <p:cNvSpPr txBox="1"/>
            <p:nvPr/>
          </p:nvSpPr>
          <p:spPr>
            <a:xfrm>
              <a:off x="0" y="209550"/>
              <a:ext cx="81915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50">
                  <a:solidFill>
                    <a:srgbClr val="FFFFFF"/>
                  </a:solidFill>
                  <a:latin typeface="Inter"/>
                  <a:ea typeface="Inter"/>
                  <a:cs typeface="Inter"/>
                  <a:sym typeface="Inter"/>
                </a:rPr>
                <a:t>Key Risks &amp; Mitigation Strategies</a:t>
              </a:r>
              <a:endParaRPr b="1" sz="1850">
                <a:solidFill>
                  <a:srgbClr val="FFFFFF"/>
                </a:solidFill>
                <a:latin typeface="Inter"/>
                <a:ea typeface="Inter"/>
                <a:cs typeface="Inter"/>
                <a:sym typeface="Inter"/>
              </a:endParaRPr>
            </a:p>
          </p:txBody>
        </p:sp>
      </p:grpSp>
      <p:grpSp>
        <p:nvGrpSpPr>
          <p:cNvPr id="354" name="Google Shape;354;p20"/>
          <p:cNvGrpSpPr/>
          <p:nvPr/>
        </p:nvGrpSpPr>
        <p:grpSpPr>
          <a:xfrm>
            <a:off x="476250" y="1000125"/>
            <a:ext cx="1905000" cy="3667200"/>
            <a:chOff x="0" y="0"/>
            <a:chExt cx="1905000" cy="3667200"/>
          </a:xfrm>
        </p:grpSpPr>
        <p:sp>
          <p:nvSpPr>
            <p:cNvPr id="355" name="Google Shape;355;p20"/>
            <p:cNvSpPr/>
            <p:nvPr/>
          </p:nvSpPr>
          <p:spPr>
            <a:xfrm>
              <a:off x="0" y="0"/>
              <a:ext cx="1905000" cy="3667200"/>
            </a:xfrm>
            <a:prstGeom prst="roundRect">
              <a:avLst>
                <a:gd fmla="val 4000"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6" name="Google Shape;356;p20"/>
            <p:cNvSpPr/>
            <p:nvPr/>
          </p:nvSpPr>
          <p:spPr>
            <a:xfrm>
              <a:off x="0" y="0"/>
              <a:ext cx="1905000" cy="38100"/>
            </a:xfrm>
            <a:prstGeom prst="roundRect">
              <a:avLst>
                <a:gd fmla="val 50000" name="adj"/>
              </a:avLst>
            </a:prstGeom>
            <a:solidFill>
              <a:srgbClr val="F43F5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7" name="Google Shape;357;p20"/>
            <p:cNvSpPr txBox="1"/>
            <p:nvPr/>
          </p:nvSpPr>
          <p:spPr>
            <a:xfrm>
              <a:off x="133350" y="133350"/>
              <a:ext cx="1638300" cy="247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F8FAFC"/>
                  </a:solidFill>
                  <a:latin typeface="Inter"/>
                  <a:ea typeface="Inter"/>
                  <a:cs typeface="Inter"/>
                  <a:sym typeface="Inter"/>
                </a:rPr>
                <a:t>Data Migration Risk</a:t>
              </a:r>
              <a:endParaRPr b="1" sz="1050">
                <a:solidFill>
                  <a:srgbClr val="F8FAFC"/>
                </a:solidFill>
                <a:latin typeface="Inter"/>
                <a:ea typeface="Inter"/>
                <a:cs typeface="Inter"/>
                <a:sym typeface="Inter"/>
              </a:endParaRPr>
            </a:p>
          </p:txBody>
        </p:sp>
        <p:grpSp>
          <p:nvGrpSpPr>
            <p:cNvPr id="358" name="Google Shape;358;p20"/>
            <p:cNvGrpSpPr/>
            <p:nvPr/>
          </p:nvGrpSpPr>
          <p:grpSpPr>
            <a:xfrm>
              <a:off x="114300" y="438150"/>
              <a:ext cx="1676400" cy="1190700"/>
              <a:chOff x="0" y="0"/>
              <a:chExt cx="1676400" cy="1190700"/>
            </a:xfrm>
          </p:grpSpPr>
          <p:sp>
            <p:nvSpPr>
              <p:cNvPr id="359" name="Google Shape;359;p20"/>
              <p:cNvSpPr/>
              <p:nvPr/>
            </p:nvSpPr>
            <p:spPr>
              <a:xfrm>
                <a:off x="0" y="0"/>
                <a:ext cx="1676400" cy="1190700"/>
              </a:xfrm>
              <a:prstGeom prst="roundRect">
                <a:avLst>
                  <a:gd fmla="val 4800"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0" name="Google Shape;360;p20"/>
              <p:cNvSpPr/>
              <p:nvPr/>
            </p:nvSpPr>
            <p:spPr>
              <a:xfrm>
                <a:off x="95250" y="95250"/>
                <a:ext cx="809700" cy="171600"/>
              </a:xfrm>
              <a:prstGeom prst="roundRect">
                <a:avLst>
                  <a:gd fmla="val 50000" name="adj"/>
                </a:avLst>
              </a:prstGeom>
              <a:solidFill>
                <a:srgbClr val="F43F5E">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1" name="Google Shape;361;p20"/>
              <p:cNvSpPr txBox="1"/>
              <p:nvPr/>
            </p:nvSpPr>
            <p:spPr>
              <a:xfrm>
                <a:off x="95250" y="95250"/>
                <a:ext cx="8097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550">
                    <a:solidFill>
                      <a:srgbClr val="FB7185"/>
                    </a:solidFill>
                    <a:latin typeface="Inter"/>
                    <a:ea typeface="Inter"/>
                    <a:cs typeface="Inter"/>
                    <a:sym typeface="Inter"/>
                  </a:rPr>
                  <a:t>IDENTIFIED RISK</a:t>
                </a:r>
                <a:endParaRPr b="1" sz="550">
                  <a:solidFill>
                    <a:srgbClr val="FB7185"/>
                  </a:solidFill>
                  <a:latin typeface="Inter"/>
                  <a:ea typeface="Inter"/>
                  <a:cs typeface="Inter"/>
                  <a:sym typeface="Inter"/>
                </a:endParaRPr>
              </a:p>
            </p:txBody>
          </p:sp>
          <p:sp>
            <p:nvSpPr>
              <p:cNvPr id="362" name="Google Shape;362;p20"/>
              <p:cNvSpPr txBox="1"/>
              <p:nvPr/>
            </p:nvSpPr>
            <p:spPr>
              <a:xfrm>
                <a:off x="95250" y="323850"/>
                <a:ext cx="14859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20">
                    <a:solidFill>
                      <a:srgbClr val="F8FAFC"/>
                    </a:solidFill>
                    <a:latin typeface="Inter SemiBold"/>
                    <a:ea typeface="Inter SemiBold"/>
                    <a:cs typeface="Inter SemiBold"/>
                    <a:sym typeface="Inter SemiBold"/>
                  </a:rPr>
                  <a:t>Legacy Database Migration Errors</a:t>
                </a:r>
                <a:endParaRPr b="0" sz="820">
                  <a:solidFill>
                    <a:srgbClr val="F8FAFC"/>
                  </a:solidFill>
                  <a:latin typeface="Inter SemiBold"/>
                  <a:ea typeface="Inter SemiBold"/>
                  <a:cs typeface="Inter SemiBold"/>
                  <a:sym typeface="Inter SemiBold"/>
                </a:endParaRPr>
              </a:p>
              <a:p>
                <a:pPr indent="0" lvl="0" marL="0" rtl="0" algn="l">
                  <a:spcBef>
                    <a:spcPts val="300"/>
                  </a:spcBef>
                  <a:spcAft>
                    <a:spcPts val="0"/>
                  </a:spcAft>
                  <a:buNone/>
                </a:pPr>
                <a:r>
                  <a:rPr b="0" lang="en" sz="720">
                    <a:solidFill>
                      <a:srgbClr val="94A3B8"/>
                    </a:solidFill>
                    <a:latin typeface="Inter"/>
                    <a:ea typeface="Inter"/>
                    <a:cs typeface="Inter"/>
                    <a:sym typeface="Inter"/>
                  </a:rPr>
                  <a:t>Legacy database migration leading to data errors and incomplete records across primary systems.</a:t>
                </a:r>
                <a:endParaRPr b="0" sz="720">
                  <a:solidFill>
                    <a:srgbClr val="94A3B8"/>
                  </a:solidFill>
                  <a:latin typeface="Inter"/>
                  <a:ea typeface="Inter"/>
                  <a:cs typeface="Inter"/>
                  <a:sym typeface="Inter"/>
                </a:endParaRPr>
              </a:p>
            </p:txBody>
          </p:sp>
        </p:grpSp>
        <p:grpSp>
          <p:nvGrpSpPr>
            <p:cNvPr id="363" name="Google Shape;363;p20"/>
            <p:cNvGrpSpPr/>
            <p:nvPr/>
          </p:nvGrpSpPr>
          <p:grpSpPr>
            <a:xfrm>
              <a:off x="114300" y="1704975"/>
              <a:ext cx="1676400" cy="1848000"/>
              <a:chOff x="0" y="0"/>
              <a:chExt cx="1676400" cy="1848000"/>
            </a:xfrm>
          </p:grpSpPr>
          <p:sp>
            <p:nvSpPr>
              <p:cNvPr id="364" name="Google Shape;364;p20"/>
              <p:cNvSpPr/>
              <p:nvPr/>
            </p:nvSpPr>
            <p:spPr>
              <a:xfrm>
                <a:off x="0" y="0"/>
                <a:ext cx="1676400" cy="1848000"/>
              </a:xfrm>
              <a:prstGeom prst="roundRect">
                <a:avLst>
                  <a:gd fmla="val 3409"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5" name="Google Shape;365;p20"/>
              <p:cNvSpPr/>
              <p:nvPr/>
            </p:nvSpPr>
            <p:spPr>
              <a:xfrm>
                <a:off x="95250" y="95250"/>
                <a:ext cx="1047900" cy="171600"/>
              </a:xfrm>
              <a:prstGeom prst="roundRect">
                <a:avLst>
                  <a:gd fmla="val 50000" name="adj"/>
                </a:avLst>
              </a:prstGeom>
              <a:solidFill>
                <a:srgbClr val="065F46">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6" name="Google Shape;366;p20"/>
              <p:cNvSpPr txBox="1"/>
              <p:nvPr/>
            </p:nvSpPr>
            <p:spPr>
              <a:xfrm>
                <a:off x="95250" y="95250"/>
                <a:ext cx="10479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550">
                    <a:solidFill>
                      <a:srgbClr val="34D399"/>
                    </a:solidFill>
                    <a:latin typeface="Inter"/>
                    <a:ea typeface="Inter"/>
                    <a:cs typeface="Inter"/>
                    <a:sym typeface="Inter"/>
                  </a:rPr>
                  <a:t>MITIGATION STRATEGY</a:t>
                </a:r>
                <a:endParaRPr b="1" sz="550">
                  <a:solidFill>
                    <a:srgbClr val="34D399"/>
                  </a:solidFill>
                  <a:latin typeface="Inter"/>
                  <a:ea typeface="Inter"/>
                  <a:cs typeface="Inter"/>
                  <a:sym typeface="Inter"/>
                </a:endParaRPr>
              </a:p>
            </p:txBody>
          </p:sp>
          <p:sp>
            <p:nvSpPr>
              <p:cNvPr id="367" name="Google Shape;367;p20"/>
              <p:cNvSpPr txBox="1"/>
              <p:nvPr/>
            </p:nvSpPr>
            <p:spPr>
              <a:xfrm>
                <a:off x="95250" y="323850"/>
                <a:ext cx="14859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20">
                    <a:solidFill>
                      <a:srgbClr val="F8FAFC"/>
                    </a:solidFill>
                    <a:latin typeface="Inter SemiBold"/>
                    <a:ea typeface="Inter SemiBold"/>
                    <a:cs typeface="Inter SemiBold"/>
                    <a:sym typeface="Inter SemiBold"/>
                  </a:rPr>
                  <a:t>Error Collection System</a:t>
                </a:r>
                <a:endParaRPr b="0" sz="820">
                  <a:solidFill>
                    <a:srgbClr val="F8FAFC"/>
                  </a:solidFill>
                  <a:latin typeface="Inter SemiBold"/>
                  <a:ea typeface="Inter SemiBold"/>
                  <a:cs typeface="Inter SemiBold"/>
                  <a:sym typeface="Inter SemiBold"/>
                </a:endParaRPr>
              </a:p>
              <a:p>
                <a:pPr indent="0" lvl="0" marL="0" rtl="0" algn="l">
                  <a:spcBef>
                    <a:spcPts val="300"/>
                  </a:spcBef>
                  <a:spcAft>
                    <a:spcPts val="0"/>
                  </a:spcAft>
                  <a:buNone/>
                </a:pPr>
                <a:r>
                  <a:rPr b="0" lang="en" sz="720">
                    <a:solidFill>
                      <a:srgbClr val="94A3B8"/>
                    </a:solidFill>
                    <a:latin typeface="Inter"/>
                    <a:ea typeface="Inter"/>
                    <a:cs typeface="Inter"/>
                    <a:sym typeface="Inter"/>
                  </a:rPr>
                  <a:t>Mitigated with an error collection system dedicated to flagging and reconciling any records that do not match between new and old systems.</a:t>
                </a:r>
                <a:endParaRPr b="0" sz="720">
                  <a:solidFill>
                    <a:srgbClr val="94A3B8"/>
                  </a:solidFill>
                  <a:latin typeface="Inter"/>
                  <a:ea typeface="Inter"/>
                  <a:cs typeface="Inter"/>
                  <a:sym typeface="Inter"/>
                </a:endParaRPr>
              </a:p>
            </p:txBody>
          </p:sp>
        </p:grpSp>
      </p:grpSp>
      <p:grpSp>
        <p:nvGrpSpPr>
          <p:cNvPr id="368" name="Google Shape;368;p20"/>
          <p:cNvGrpSpPr/>
          <p:nvPr/>
        </p:nvGrpSpPr>
        <p:grpSpPr>
          <a:xfrm>
            <a:off x="2571750" y="1000125"/>
            <a:ext cx="1905000" cy="3667200"/>
            <a:chOff x="0" y="0"/>
            <a:chExt cx="1905000" cy="3667200"/>
          </a:xfrm>
        </p:grpSpPr>
        <p:sp>
          <p:nvSpPr>
            <p:cNvPr id="369" name="Google Shape;369;p20"/>
            <p:cNvSpPr/>
            <p:nvPr/>
          </p:nvSpPr>
          <p:spPr>
            <a:xfrm>
              <a:off x="0" y="0"/>
              <a:ext cx="1905000" cy="3667200"/>
            </a:xfrm>
            <a:prstGeom prst="roundRect">
              <a:avLst>
                <a:gd fmla="val 4000"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0" name="Google Shape;370;p20"/>
            <p:cNvSpPr/>
            <p:nvPr/>
          </p:nvSpPr>
          <p:spPr>
            <a:xfrm>
              <a:off x="0" y="0"/>
              <a:ext cx="1905000" cy="38100"/>
            </a:xfrm>
            <a:prstGeom prst="roundRect">
              <a:avLst>
                <a:gd fmla="val 50000" name="adj"/>
              </a:avLst>
            </a:prstGeom>
            <a:solidFill>
              <a:srgbClr val="F43F5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1" name="Google Shape;371;p20"/>
            <p:cNvSpPr txBox="1"/>
            <p:nvPr/>
          </p:nvSpPr>
          <p:spPr>
            <a:xfrm>
              <a:off x="133350" y="133350"/>
              <a:ext cx="1638300" cy="247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F8FAFC"/>
                  </a:solidFill>
                  <a:latin typeface="Inter"/>
                  <a:ea typeface="Inter"/>
                  <a:cs typeface="Inter"/>
                  <a:sym typeface="Inter"/>
                </a:rPr>
                <a:t>Customer Adoption Risk</a:t>
              </a:r>
              <a:endParaRPr b="1" sz="1050">
                <a:solidFill>
                  <a:srgbClr val="F8FAFC"/>
                </a:solidFill>
                <a:latin typeface="Inter"/>
                <a:ea typeface="Inter"/>
                <a:cs typeface="Inter"/>
                <a:sym typeface="Inter"/>
              </a:endParaRPr>
            </a:p>
          </p:txBody>
        </p:sp>
        <p:grpSp>
          <p:nvGrpSpPr>
            <p:cNvPr id="372" name="Google Shape;372;p20"/>
            <p:cNvGrpSpPr/>
            <p:nvPr/>
          </p:nvGrpSpPr>
          <p:grpSpPr>
            <a:xfrm>
              <a:off x="114300" y="438150"/>
              <a:ext cx="1676400" cy="1190700"/>
              <a:chOff x="0" y="0"/>
              <a:chExt cx="1676400" cy="1190700"/>
            </a:xfrm>
          </p:grpSpPr>
          <p:sp>
            <p:nvSpPr>
              <p:cNvPr id="373" name="Google Shape;373;p20"/>
              <p:cNvSpPr/>
              <p:nvPr/>
            </p:nvSpPr>
            <p:spPr>
              <a:xfrm>
                <a:off x="0" y="0"/>
                <a:ext cx="1676400" cy="1190700"/>
              </a:xfrm>
              <a:prstGeom prst="roundRect">
                <a:avLst>
                  <a:gd fmla="val 4800"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4" name="Google Shape;374;p20"/>
              <p:cNvSpPr/>
              <p:nvPr/>
            </p:nvSpPr>
            <p:spPr>
              <a:xfrm>
                <a:off x="95250" y="95250"/>
                <a:ext cx="809700" cy="171600"/>
              </a:xfrm>
              <a:prstGeom prst="roundRect">
                <a:avLst>
                  <a:gd fmla="val 50000" name="adj"/>
                </a:avLst>
              </a:prstGeom>
              <a:solidFill>
                <a:srgbClr val="F43F5E">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5" name="Google Shape;375;p20"/>
              <p:cNvSpPr txBox="1"/>
              <p:nvPr/>
            </p:nvSpPr>
            <p:spPr>
              <a:xfrm>
                <a:off x="95250" y="95250"/>
                <a:ext cx="8097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550">
                    <a:solidFill>
                      <a:srgbClr val="FB7185"/>
                    </a:solidFill>
                    <a:latin typeface="Inter"/>
                    <a:ea typeface="Inter"/>
                    <a:cs typeface="Inter"/>
                    <a:sym typeface="Inter"/>
                  </a:rPr>
                  <a:t>IDENTIFIED RISK</a:t>
                </a:r>
                <a:endParaRPr b="1" sz="550">
                  <a:solidFill>
                    <a:srgbClr val="FB7185"/>
                  </a:solidFill>
                  <a:latin typeface="Inter"/>
                  <a:ea typeface="Inter"/>
                  <a:cs typeface="Inter"/>
                  <a:sym typeface="Inter"/>
                </a:endParaRPr>
              </a:p>
            </p:txBody>
          </p:sp>
          <p:sp>
            <p:nvSpPr>
              <p:cNvPr id="376" name="Google Shape;376;p20"/>
              <p:cNvSpPr txBox="1"/>
              <p:nvPr/>
            </p:nvSpPr>
            <p:spPr>
              <a:xfrm>
                <a:off x="95250" y="323850"/>
                <a:ext cx="14859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20">
                    <a:solidFill>
                      <a:srgbClr val="F8FAFC"/>
                    </a:solidFill>
                    <a:latin typeface="Inter SemiBold"/>
                    <a:ea typeface="Inter SemiBold"/>
                    <a:cs typeface="Inter SemiBold"/>
                    <a:sym typeface="Inter SemiBold"/>
                  </a:rPr>
                  <a:t>Low Portal Adoption Rate</a:t>
                </a:r>
                <a:endParaRPr b="0" sz="820">
                  <a:solidFill>
                    <a:srgbClr val="F8FAFC"/>
                  </a:solidFill>
                  <a:latin typeface="Inter SemiBold"/>
                  <a:ea typeface="Inter SemiBold"/>
                  <a:cs typeface="Inter SemiBold"/>
                  <a:sym typeface="Inter SemiBold"/>
                </a:endParaRPr>
              </a:p>
              <a:p>
                <a:pPr indent="0" lvl="0" marL="0" rtl="0" algn="l">
                  <a:spcBef>
                    <a:spcPts val="300"/>
                  </a:spcBef>
                  <a:spcAft>
                    <a:spcPts val="0"/>
                  </a:spcAft>
                  <a:buNone/>
                </a:pPr>
                <a:r>
                  <a:rPr b="0" lang="en" sz="720">
                    <a:solidFill>
                      <a:srgbClr val="94A3B8"/>
                    </a:solidFill>
                    <a:latin typeface="Inter"/>
                    <a:ea typeface="Inter"/>
                    <a:cs typeface="Inter"/>
                    <a:sym typeface="Inter"/>
                  </a:rPr>
                  <a:t>Low adoption from customers if they feel the portal is not an effective service or experience difficulties using it.</a:t>
                </a:r>
                <a:endParaRPr b="0" sz="720">
                  <a:solidFill>
                    <a:srgbClr val="94A3B8"/>
                  </a:solidFill>
                  <a:latin typeface="Inter"/>
                  <a:ea typeface="Inter"/>
                  <a:cs typeface="Inter"/>
                  <a:sym typeface="Inter"/>
                </a:endParaRPr>
              </a:p>
            </p:txBody>
          </p:sp>
        </p:grpSp>
        <p:grpSp>
          <p:nvGrpSpPr>
            <p:cNvPr id="377" name="Google Shape;377;p20"/>
            <p:cNvGrpSpPr/>
            <p:nvPr/>
          </p:nvGrpSpPr>
          <p:grpSpPr>
            <a:xfrm>
              <a:off x="114300" y="1704975"/>
              <a:ext cx="1676400" cy="1848000"/>
              <a:chOff x="0" y="0"/>
              <a:chExt cx="1676400" cy="1848000"/>
            </a:xfrm>
          </p:grpSpPr>
          <p:sp>
            <p:nvSpPr>
              <p:cNvPr id="378" name="Google Shape;378;p20"/>
              <p:cNvSpPr/>
              <p:nvPr/>
            </p:nvSpPr>
            <p:spPr>
              <a:xfrm>
                <a:off x="0" y="0"/>
                <a:ext cx="1676400" cy="1848000"/>
              </a:xfrm>
              <a:prstGeom prst="roundRect">
                <a:avLst>
                  <a:gd fmla="val 3409"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9" name="Google Shape;379;p20"/>
              <p:cNvSpPr/>
              <p:nvPr/>
            </p:nvSpPr>
            <p:spPr>
              <a:xfrm>
                <a:off x="95250" y="95250"/>
                <a:ext cx="1047900" cy="171600"/>
              </a:xfrm>
              <a:prstGeom prst="roundRect">
                <a:avLst>
                  <a:gd fmla="val 50000" name="adj"/>
                </a:avLst>
              </a:prstGeom>
              <a:solidFill>
                <a:srgbClr val="065F46">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0" name="Google Shape;380;p20"/>
              <p:cNvSpPr txBox="1"/>
              <p:nvPr/>
            </p:nvSpPr>
            <p:spPr>
              <a:xfrm>
                <a:off x="95250" y="95250"/>
                <a:ext cx="10479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550">
                    <a:solidFill>
                      <a:srgbClr val="34D399"/>
                    </a:solidFill>
                    <a:latin typeface="Inter"/>
                    <a:ea typeface="Inter"/>
                    <a:cs typeface="Inter"/>
                    <a:sym typeface="Inter"/>
                  </a:rPr>
                  <a:t>MITIGATION STRATEGY</a:t>
                </a:r>
                <a:endParaRPr b="1" sz="550">
                  <a:solidFill>
                    <a:srgbClr val="34D399"/>
                  </a:solidFill>
                  <a:latin typeface="Inter"/>
                  <a:ea typeface="Inter"/>
                  <a:cs typeface="Inter"/>
                  <a:sym typeface="Inter"/>
                </a:endParaRPr>
              </a:p>
            </p:txBody>
          </p:sp>
          <p:sp>
            <p:nvSpPr>
              <p:cNvPr id="381" name="Google Shape;381;p20"/>
              <p:cNvSpPr txBox="1"/>
              <p:nvPr/>
            </p:nvSpPr>
            <p:spPr>
              <a:xfrm>
                <a:off x="95250" y="323850"/>
                <a:ext cx="14859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20">
                    <a:solidFill>
                      <a:srgbClr val="F8FAFC"/>
                    </a:solidFill>
                    <a:latin typeface="Inter SemiBold"/>
                    <a:ea typeface="Inter SemiBold"/>
                    <a:cs typeface="Inter SemiBold"/>
                    <a:sym typeface="Inter SemiBold"/>
                  </a:rPr>
                  <a:t>Dual-Track Deployment</a:t>
                </a:r>
                <a:endParaRPr b="0" sz="820">
                  <a:solidFill>
                    <a:srgbClr val="F8FAFC"/>
                  </a:solidFill>
                  <a:latin typeface="Inter SemiBold"/>
                  <a:ea typeface="Inter SemiBold"/>
                  <a:cs typeface="Inter SemiBold"/>
                  <a:sym typeface="Inter SemiBold"/>
                </a:endParaRPr>
              </a:p>
              <a:p>
                <a:pPr indent="0" lvl="0" marL="0" rtl="0" algn="l">
                  <a:spcBef>
                    <a:spcPts val="300"/>
                  </a:spcBef>
                  <a:spcAft>
                    <a:spcPts val="0"/>
                  </a:spcAft>
                  <a:buNone/>
                </a:pPr>
                <a:r>
                  <a:rPr b="0" lang="en" sz="720">
                    <a:solidFill>
                      <a:srgbClr val="94A3B8"/>
                    </a:solidFill>
                    <a:latin typeface="Inter"/>
                    <a:ea typeface="Inter"/>
                    <a:cs typeface="Inter"/>
                    <a:sym typeface="Inter"/>
                  </a:rPr>
                  <a:t>Mitigated by keeping the manual path fully open alongside ensuring the platform is thoroughly tested and production-ready prior to launching.</a:t>
                </a:r>
                <a:endParaRPr b="0" sz="720">
                  <a:solidFill>
                    <a:srgbClr val="94A3B8"/>
                  </a:solidFill>
                  <a:latin typeface="Inter"/>
                  <a:ea typeface="Inter"/>
                  <a:cs typeface="Inter"/>
                  <a:sym typeface="Inter"/>
                </a:endParaRPr>
              </a:p>
            </p:txBody>
          </p:sp>
        </p:grpSp>
      </p:grpSp>
      <p:grpSp>
        <p:nvGrpSpPr>
          <p:cNvPr id="382" name="Google Shape;382;p20"/>
          <p:cNvGrpSpPr/>
          <p:nvPr/>
        </p:nvGrpSpPr>
        <p:grpSpPr>
          <a:xfrm>
            <a:off x="4667250" y="1000125"/>
            <a:ext cx="1905000" cy="3667200"/>
            <a:chOff x="0" y="0"/>
            <a:chExt cx="1905000" cy="3667200"/>
          </a:xfrm>
        </p:grpSpPr>
        <p:sp>
          <p:nvSpPr>
            <p:cNvPr id="383" name="Google Shape;383;p20"/>
            <p:cNvSpPr/>
            <p:nvPr/>
          </p:nvSpPr>
          <p:spPr>
            <a:xfrm>
              <a:off x="0" y="0"/>
              <a:ext cx="1905000" cy="3667200"/>
            </a:xfrm>
            <a:prstGeom prst="roundRect">
              <a:avLst>
                <a:gd fmla="val 4000"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4" name="Google Shape;384;p20"/>
            <p:cNvSpPr/>
            <p:nvPr/>
          </p:nvSpPr>
          <p:spPr>
            <a:xfrm>
              <a:off x="0" y="0"/>
              <a:ext cx="1905000" cy="38100"/>
            </a:xfrm>
            <a:prstGeom prst="roundRect">
              <a:avLst>
                <a:gd fmla="val 50000" name="adj"/>
              </a:avLst>
            </a:prstGeom>
            <a:solidFill>
              <a:srgbClr val="F43F5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5" name="Google Shape;385;p20"/>
            <p:cNvSpPr txBox="1"/>
            <p:nvPr/>
          </p:nvSpPr>
          <p:spPr>
            <a:xfrm>
              <a:off x="133350" y="133350"/>
              <a:ext cx="1638300" cy="247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71">
                  <a:solidFill>
                    <a:srgbClr val="F8FAFC"/>
                  </a:solidFill>
                  <a:latin typeface="Inter"/>
                  <a:ea typeface="Inter"/>
                  <a:cs typeface="Inter"/>
                  <a:sym typeface="Inter"/>
                </a:rPr>
                <a:t>Operational Workflow Risk</a:t>
              </a:r>
              <a:endParaRPr b="1" sz="971">
                <a:solidFill>
                  <a:srgbClr val="F8FAFC"/>
                </a:solidFill>
                <a:latin typeface="Inter"/>
                <a:ea typeface="Inter"/>
                <a:cs typeface="Inter"/>
                <a:sym typeface="Inter"/>
              </a:endParaRPr>
            </a:p>
          </p:txBody>
        </p:sp>
        <p:grpSp>
          <p:nvGrpSpPr>
            <p:cNvPr id="386" name="Google Shape;386;p20"/>
            <p:cNvGrpSpPr/>
            <p:nvPr/>
          </p:nvGrpSpPr>
          <p:grpSpPr>
            <a:xfrm>
              <a:off x="114300" y="438150"/>
              <a:ext cx="1676400" cy="1190700"/>
              <a:chOff x="0" y="0"/>
              <a:chExt cx="1676400" cy="1190700"/>
            </a:xfrm>
          </p:grpSpPr>
          <p:sp>
            <p:nvSpPr>
              <p:cNvPr id="387" name="Google Shape;387;p20"/>
              <p:cNvSpPr/>
              <p:nvPr/>
            </p:nvSpPr>
            <p:spPr>
              <a:xfrm>
                <a:off x="0" y="0"/>
                <a:ext cx="1676400" cy="1190700"/>
              </a:xfrm>
              <a:prstGeom prst="roundRect">
                <a:avLst>
                  <a:gd fmla="val 4800"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8" name="Google Shape;388;p20"/>
              <p:cNvSpPr/>
              <p:nvPr/>
            </p:nvSpPr>
            <p:spPr>
              <a:xfrm>
                <a:off x="95250" y="95250"/>
                <a:ext cx="809700" cy="171600"/>
              </a:xfrm>
              <a:prstGeom prst="roundRect">
                <a:avLst>
                  <a:gd fmla="val 50000" name="adj"/>
                </a:avLst>
              </a:prstGeom>
              <a:solidFill>
                <a:srgbClr val="F43F5E">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9" name="Google Shape;389;p20"/>
              <p:cNvSpPr txBox="1"/>
              <p:nvPr/>
            </p:nvSpPr>
            <p:spPr>
              <a:xfrm>
                <a:off x="95250" y="95250"/>
                <a:ext cx="8097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550">
                    <a:solidFill>
                      <a:srgbClr val="FB7185"/>
                    </a:solidFill>
                    <a:latin typeface="Inter"/>
                    <a:ea typeface="Inter"/>
                    <a:cs typeface="Inter"/>
                    <a:sym typeface="Inter"/>
                  </a:rPr>
                  <a:t>IDENTIFIED RISK</a:t>
                </a:r>
                <a:endParaRPr b="1" sz="550">
                  <a:solidFill>
                    <a:srgbClr val="FB7185"/>
                  </a:solidFill>
                  <a:latin typeface="Inter"/>
                  <a:ea typeface="Inter"/>
                  <a:cs typeface="Inter"/>
                  <a:sym typeface="Inter"/>
                </a:endParaRPr>
              </a:p>
            </p:txBody>
          </p:sp>
          <p:sp>
            <p:nvSpPr>
              <p:cNvPr id="390" name="Google Shape;390;p20"/>
              <p:cNvSpPr txBox="1"/>
              <p:nvPr/>
            </p:nvSpPr>
            <p:spPr>
              <a:xfrm>
                <a:off x="95250" y="323850"/>
                <a:ext cx="14859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20">
                    <a:solidFill>
                      <a:srgbClr val="F8FAFC"/>
                    </a:solidFill>
                    <a:latin typeface="Inter SemiBold"/>
                    <a:ea typeface="Inter SemiBold"/>
                    <a:cs typeface="Inter SemiBold"/>
                    <a:sym typeface="Inter SemiBold"/>
                  </a:rPr>
                  <a:t>Rep Workflow Disruption</a:t>
                </a:r>
                <a:endParaRPr b="0" sz="820">
                  <a:solidFill>
                    <a:srgbClr val="F8FAFC"/>
                  </a:solidFill>
                  <a:latin typeface="Inter SemiBold"/>
                  <a:ea typeface="Inter SemiBold"/>
                  <a:cs typeface="Inter SemiBold"/>
                  <a:sym typeface="Inter SemiBold"/>
                </a:endParaRPr>
              </a:p>
              <a:p>
                <a:pPr indent="0" lvl="0" marL="0" rtl="0" algn="l">
                  <a:spcBef>
                    <a:spcPts val="300"/>
                  </a:spcBef>
                  <a:spcAft>
                    <a:spcPts val="0"/>
                  </a:spcAft>
                  <a:buNone/>
                </a:pPr>
                <a:r>
                  <a:rPr b="0" lang="en" sz="720">
                    <a:solidFill>
                      <a:srgbClr val="94A3B8"/>
                    </a:solidFill>
                    <a:latin typeface="Inter"/>
                    <a:ea typeface="Inter"/>
                    <a:cs typeface="Inter"/>
                    <a:sym typeface="Inter"/>
                  </a:rPr>
                  <a:t>Disruption to collection rep workflow if the self-service portal creates new unforeseen operational issues.</a:t>
                </a:r>
                <a:endParaRPr b="0" sz="720">
                  <a:solidFill>
                    <a:srgbClr val="94A3B8"/>
                  </a:solidFill>
                  <a:latin typeface="Inter"/>
                  <a:ea typeface="Inter"/>
                  <a:cs typeface="Inter"/>
                  <a:sym typeface="Inter"/>
                </a:endParaRPr>
              </a:p>
            </p:txBody>
          </p:sp>
        </p:grpSp>
        <p:grpSp>
          <p:nvGrpSpPr>
            <p:cNvPr id="391" name="Google Shape;391;p20"/>
            <p:cNvGrpSpPr/>
            <p:nvPr/>
          </p:nvGrpSpPr>
          <p:grpSpPr>
            <a:xfrm>
              <a:off x="114300" y="1704975"/>
              <a:ext cx="1676400" cy="1848000"/>
              <a:chOff x="0" y="0"/>
              <a:chExt cx="1676400" cy="1848000"/>
            </a:xfrm>
          </p:grpSpPr>
          <p:sp>
            <p:nvSpPr>
              <p:cNvPr id="392" name="Google Shape;392;p20"/>
              <p:cNvSpPr/>
              <p:nvPr/>
            </p:nvSpPr>
            <p:spPr>
              <a:xfrm>
                <a:off x="0" y="0"/>
                <a:ext cx="1676400" cy="1848000"/>
              </a:xfrm>
              <a:prstGeom prst="roundRect">
                <a:avLst>
                  <a:gd fmla="val 3409"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3" name="Google Shape;393;p20"/>
              <p:cNvSpPr/>
              <p:nvPr/>
            </p:nvSpPr>
            <p:spPr>
              <a:xfrm>
                <a:off x="95250" y="95250"/>
                <a:ext cx="1047900" cy="171600"/>
              </a:xfrm>
              <a:prstGeom prst="roundRect">
                <a:avLst>
                  <a:gd fmla="val 50000" name="adj"/>
                </a:avLst>
              </a:prstGeom>
              <a:solidFill>
                <a:srgbClr val="065F46">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4" name="Google Shape;394;p20"/>
              <p:cNvSpPr txBox="1"/>
              <p:nvPr/>
            </p:nvSpPr>
            <p:spPr>
              <a:xfrm>
                <a:off x="95250" y="95250"/>
                <a:ext cx="10479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550">
                    <a:solidFill>
                      <a:srgbClr val="34D399"/>
                    </a:solidFill>
                    <a:latin typeface="Inter"/>
                    <a:ea typeface="Inter"/>
                    <a:cs typeface="Inter"/>
                    <a:sym typeface="Inter"/>
                  </a:rPr>
                  <a:t>MITIGATION STRATEGY</a:t>
                </a:r>
                <a:endParaRPr b="1" sz="550">
                  <a:solidFill>
                    <a:srgbClr val="34D399"/>
                  </a:solidFill>
                  <a:latin typeface="Inter"/>
                  <a:ea typeface="Inter"/>
                  <a:cs typeface="Inter"/>
                  <a:sym typeface="Inter"/>
                </a:endParaRPr>
              </a:p>
            </p:txBody>
          </p:sp>
          <p:sp>
            <p:nvSpPr>
              <p:cNvPr id="395" name="Google Shape;395;p20"/>
              <p:cNvSpPr txBox="1"/>
              <p:nvPr/>
            </p:nvSpPr>
            <p:spPr>
              <a:xfrm>
                <a:off x="95250" y="323850"/>
                <a:ext cx="14859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20">
                    <a:solidFill>
                      <a:srgbClr val="F8FAFC"/>
                    </a:solidFill>
                    <a:latin typeface="Inter SemiBold"/>
                    <a:ea typeface="Inter SemiBold"/>
                    <a:cs typeface="Inter SemiBold"/>
                    <a:sym typeface="Inter SemiBold"/>
                  </a:rPr>
                  <a:t>Scope Limitation &amp; Escalation</a:t>
                </a:r>
                <a:endParaRPr b="0" sz="820">
                  <a:solidFill>
                    <a:srgbClr val="F8FAFC"/>
                  </a:solidFill>
                  <a:latin typeface="Inter SemiBold"/>
                  <a:ea typeface="Inter SemiBold"/>
                  <a:cs typeface="Inter SemiBold"/>
                  <a:sym typeface="Inter SemiBold"/>
                </a:endParaRPr>
              </a:p>
              <a:p>
                <a:pPr indent="0" lvl="0" marL="0" rtl="0" algn="l">
                  <a:spcBef>
                    <a:spcPts val="300"/>
                  </a:spcBef>
                  <a:spcAft>
                    <a:spcPts val="0"/>
                  </a:spcAft>
                  <a:buNone/>
                </a:pPr>
                <a:r>
                  <a:rPr b="0" lang="en" sz="720">
                    <a:solidFill>
                      <a:srgbClr val="94A3B8"/>
                    </a:solidFill>
                    <a:latin typeface="Inter"/>
                    <a:ea typeface="Inter"/>
                    <a:cs typeface="Inter"/>
                    <a:sym typeface="Inter"/>
                  </a:rPr>
                  <a:t>Mitigated by having the portal handle simple cases only while preserving the manual route for complex cases requiring rep handling or manager oversight.</a:t>
                </a:r>
                <a:endParaRPr b="0" sz="720">
                  <a:solidFill>
                    <a:srgbClr val="94A3B8"/>
                  </a:solidFill>
                  <a:latin typeface="Inter"/>
                  <a:ea typeface="Inter"/>
                  <a:cs typeface="Inter"/>
                  <a:sym typeface="Inter"/>
                </a:endParaRPr>
              </a:p>
            </p:txBody>
          </p:sp>
        </p:grpSp>
      </p:grpSp>
      <p:grpSp>
        <p:nvGrpSpPr>
          <p:cNvPr id="396" name="Google Shape;396;p20"/>
          <p:cNvGrpSpPr/>
          <p:nvPr/>
        </p:nvGrpSpPr>
        <p:grpSpPr>
          <a:xfrm>
            <a:off x="6762750" y="1000125"/>
            <a:ext cx="1905000" cy="3667200"/>
            <a:chOff x="0" y="0"/>
            <a:chExt cx="1905000" cy="3667200"/>
          </a:xfrm>
        </p:grpSpPr>
        <p:sp>
          <p:nvSpPr>
            <p:cNvPr id="397" name="Google Shape;397;p20"/>
            <p:cNvSpPr/>
            <p:nvPr/>
          </p:nvSpPr>
          <p:spPr>
            <a:xfrm>
              <a:off x="0" y="0"/>
              <a:ext cx="1905000" cy="3667200"/>
            </a:xfrm>
            <a:prstGeom prst="roundRect">
              <a:avLst>
                <a:gd fmla="val 4000"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8" name="Google Shape;398;p20"/>
            <p:cNvSpPr/>
            <p:nvPr/>
          </p:nvSpPr>
          <p:spPr>
            <a:xfrm>
              <a:off x="0" y="0"/>
              <a:ext cx="1905000" cy="38100"/>
            </a:xfrm>
            <a:prstGeom prst="roundRect">
              <a:avLst>
                <a:gd fmla="val 50000" name="adj"/>
              </a:avLst>
            </a:prstGeom>
            <a:solidFill>
              <a:srgbClr val="F43F5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9" name="Google Shape;399;p20"/>
            <p:cNvSpPr txBox="1"/>
            <p:nvPr/>
          </p:nvSpPr>
          <p:spPr>
            <a:xfrm>
              <a:off x="133350" y="133350"/>
              <a:ext cx="1638300" cy="247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93">
                  <a:solidFill>
                    <a:srgbClr val="F8FAFC"/>
                  </a:solidFill>
                  <a:latin typeface="Inter"/>
                  <a:ea typeface="Inter"/>
                  <a:cs typeface="Inter"/>
                  <a:sym typeface="Inter"/>
                </a:rPr>
                <a:t>Compliance &amp; Reporting Risk</a:t>
              </a:r>
              <a:endParaRPr b="1" sz="893">
                <a:solidFill>
                  <a:srgbClr val="F8FAFC"/>
                </a:solidFill>
                <a:latin typeface="Inter"/>
                <a:ea typeface="Inter"/>
                <a:cs typeface="Inter"/>
                <a:sym typeface="Inter"/>
              </a:endParaRPr>
            </a:p>
          </p:txBody>
        </p:sp>
        <p:grpSp>
          <p:nvGrpSpPr>
            <p:cNvPr id="400" name="Google Shape;400;p20"/>
            <p:cNvGrpSpPr/>
            <p:nvPr/>
          </p:nvGrpSpPr>
          <p:grpSpPr>
            <a:xfrm>
              <a:off x="114300" y="438150"/>
              <a:ext cx="1676400" cy="1190700"/>
              <a:chOff x="0" y="0"/>
              <a:chExt cx="1676400" cy="1190700"/>
            </a:xfrm>
          </p:grpSpPr>
          <p:sp>
            <p:nvSpPr>
              <p:cNvPr id="401" name="Google Shape;401;p20"/>
              <p:cNvSpPr/>
              <p:nvPr/>
            </p:nvSpPr>
            <p:spPr>
              <a:xfrm>
                <a:off x="0" y="0"/>
                <a:ext cx="1676400" cy="1190700"/>
              </a:xfrm>
              <a:prstGeom prst="roundRect">
                <a:avLst>
                  <a:gd fmla="val 4800"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2" name="Google Shape;402;p20"/>
              <p:cNvSpPr/>
              <p:nvPr/>
            </p:nvSpPr>
            <p:spPr>
              <a:xfrm>
                <a:off x="95250" y="95250"/>
                <a:ext cx="809700" cy="171600"/>
              </a:xfrm>
              <a:prstGeom prst="roundRect">
                <a:avLst>
                  <a:gd fmla="val 50000" name="adj"/>
                </a:avLst>
              </a:prstGeom>
              <a:solidFill>
                <a:srgbClr val="F43F5E">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3" name="Google Shape;403;p20"/>
              <p:cNvSpPr txBox="1"/>
              <p:nvPr/>
            </p:nvSpPr>
            <p:spPr>
              <a:xfrm>
                <a:off x="95250" y="95250"/>
                <a:ext cx="8097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550">
                    <a:solidFill>
                      <a:srgbClr val="FB7185"/>
                    </a:solidFill>
                    <a:latin typeface="Inter"/>
                    <a:ea typeface="Inter"/>
                    <a:cs typeface="Inter"/>
                    <a:sym typeface="Inter"/>
                  </a:rPr>
                  <a:t>IDENTIFIED RISK</a:t>
                </a:r>
                <a:endParaRPr b="1" sz="550">
                  <a:solidFill>
                    <a:srgbClr val="FB7185"/>
                  </a:solidFill>
                  <a:latin typeface="Inter"/>
                  <a:ea typeface="Inter"/>
                  <a:cs typeface="Inter"/>
                  <a:sym typeface="Inter"/>
                </a:endParaRPr>
              </a:p>
            </p:txBody>
          </p:sp>
          <p:sp>
            <p:nvSpPr>
              <p:cNvPr id="404" name="Google Shape;404;p20"/>
              <p:cNvSpPr txBox="1"/>
              <p:nvPr/>
            </p:nvSpPr>
            <p:spPr>
              <a:xfrm>
                <a:off x="95250" y="323850"/>
                <a:ext cx="14859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20">
                    <a:solidFill>
                      <a:srgbClr val="F8FAFC"/>
                    </a:solidFill>
                    <a:latin typeface="Inter SemiBold"/>
                    <a:ea typeface="Inter SemiBold"/>
                    <a:cs typeface="Inter SemiBold"/>
                    <a:sym typeface="Inter SemiBold"/>
                  </a:rPr>
                  <a:t>Incorrect Report Generation</a:t>
                </a:r>
                <a:endParaRPr b="0" sz="820">
                  <a:solidFill>
                    <a:srgbClr val="F8FAFC"/>
                  </a:solidFill>
                  <a:latin typeface="Inter SemiBold"/>
                  <a:ea typeface="Inter SemiBold"/>
                  <a:cs typeface="Inter SemiBold"/>
                  <a:sym typeface="Inter SemiBold"/>
                </a:endParaRPr>
              </a:p>
              <a:p>
                <a:pPr indent="0" lvl="0" marL="0" rtl="0" algn="l">
                  <a:spcBef>
                    <a:spcPts val="300"/>
                  </a:spcBef>
                  <a:spcAft>
                    <a:spcPts val="0"/>
                  </a:spcAft>
                  <a:buNone/>
                </a:pPr>
                <a:r>
                  <a:rPr b="0" lang="en" sz="720">
                    <a:solidFill>
                      <a:srgbClr val="94A3B8"/>
                    </a:solidFill>
                    <a:latin typeface="Inter"/>
                    <a:ea typeface="Inter"/>
                    <a:cs typeface="Inter"/>
                    <a:sym typeface="Inter"/>
                  </a:rPr>
                  <a:t>Portal reporting system raising compliance errors through incorrect report generation.</a:t>
                </a:r>
                <a:endParaRPr b="0" sz="720">
                  <a:solidFill>
                    <a:srgbClr val="94A3B8"/>
                  </a:solidFill>
                  <a:latin typeface="Inter"/>
                  <a:ea typeface="Inter"/>
                  <a:cs typeface="Inter"/>
                  <a:sym typeface="Inter"/>
                </a:endParaRPr>
              </a:p>
            </p:txBody>
          </p:sp>
        </p:grpSp>
        <p:grpSp>
          <p:nvGrpSpPr>
            <p:cNvPr id="405" name="Google Shape;405;p20"/>
            <p:cNvGrpSpPr/>
            <p:nvPr/>
          </p:nvGrpSpPr>
          <p:grpSpPr>
            <a:xfrm>
              <a:off x="114300" y="1704975"/>
              <a:ext cx="1676400" cy="1848000"/>
              <a:chOff x="0" y="0"/>
              <a:chExt cx="1676400" cy="1848000"/>
            </a:xfrm>
          </p:grpSpPr>
          <p:sp>
            <p:nvSpPr>
              <p:cNvPr id="406" name="Google Shape;406;p20"/>
              <p:cNvSpPr/>
              <p:nvPr/>
            </p:nvSpPr>
            <p:spPr>
              <a:xfrm>
                <a:off x="0" y="0"/>
                <a:ext cx="1676400" cy="1848000"/>
              </a:xfrm>
              <a:prstGeom prst="roundRect">
                <a:avLst>
                  <a:gd fmla="val 3409"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7" name="Google Shape;407;p20"/>
              <p:cNvSpPr/>
              <p:nvPr/>
            </p:nvSpPr>
            <p:spPr>
              <a:xfrm>
                <a:off x="95250" y="95250"/>
                <a:ext cx="1047900" cy="171600"/>
              </a:xfrm>
              <a:prstGeom prst="roundRect">
                <a:avLst>
                  <a:gd fmla="val 50000" name="adj"/>
                </a:avLst>
              </a:prstGeom>
              <a:solidFill>
                <a:srgbClr val="065F46">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8" name="Google Shape;408;p20"/>
              <p:cNvSpPr txBox="1"/>
              <p:nvPr/>
            </p:nvSpPr>
            <p:spPr>
              <a:xfrm>
                <a:off x="95250" y="95250"/>
                <a:ext cx="10479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550">
                    <a:solidFill>
                      <a:srgbClr val="34D399"/>
                    </a:solidFill>
                    <a:latin typeface="Inter"/>
                    <a:ea typeface="Inter"/>
                    <a:cs typeface="Inter"/>
                    <a:sym typeface="Inter"/>
                  </a:rPr>
                  <a:t>MITIGATION STRATEGY</a:t>
                </a:r>
                <a:endParaRPr b="1" sz="550">
                  <a:solidFill>
                    <a:srgbClr val="34D399"/>
                  </a:solidFill>
                  <a:latin typeface="Inter"/>
                  <a:ea typeface="Inter"/>
                  <a:cs typeface="Inter"/>
                  <a:sym typeface="Inter"/>
                </a:endParaRPr>
              </a:p>
            </p:txBody>
          </p:sp>
          <p:sp>
            <p:nvSpPr>
              <p:cNvPr id="409" name="Google Shape;409;p20"/>
              <p:cNvSpPr txBox="1"/>
              <p:nvPr/>
            </p:nvSpPr>
            <p:spPr>
              <a:xfrm>
                <a:off x="95250" y="323850"/>
                <a:ext cx="14859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20">
                    <a:solidFill>
                      <a:srgbClr val="F8FAFC"/>
                    </a:solidFill>
                    <a:latin typeface="Inter SemiBold"/>
                    <a:ea typeface="Inter SemiBold"/>
                    <a:cs typeface="Inter SemiBold"/>
                    <a:sym typeface="Inter SemiBold"/>
                  </a:rPr>
                  <a:t>Automated Validation &amp; Fallback</a:t>
                </a:r>
                <a:endParaRPr b="0" sz="820">
                  <a:solidFill>
                    <a:srgbClr val="F8FAFC"/>
                  </a:solidFill>
                  <a:latin typeface="Inter SemiBold"/>
                  <a:ea typeface="Inter SemiBold"/>
                  <a:cs typeface="Inter SemiBold"/>
                  <a:sym typeface="Inter SemiBold"/>
                </a:endParaRPr>
              </a:p>
              <a:p>
                <a:pPr indent="0" lvl="0" marL="0" rtl="0" algn="l">
                  <a:spcBef>
                    <a:spcPts val="300"/>
                  </a:spcBef>
                  <a:spcAft>
                    <a:spcPts val="0"/>
                  </a:spcAft>
                  <a:buNone/>
                </a:pPr>
                <a:r>
                  <a:rPr b="0" lang="en" sz="720">
                    <a:solidFill>
                      <a:srgbClr val="94A3B8"/>
                    </a:solidFill>
                    <a:latin typeface="Inter"/>
                    <a:ea typeface="Inter"/>
                    <a:cs typeface="Inter"/>
                    <a:sym typeface="Inter"/>
                  </a:rPr>
                  <a:t>Mitigated by automated checks for data validity and ensuring there is always a manual fallback path to trace records directly from the database.</a:t>
                </a:r>
                <a:endParaRPr b="0" sz="720">
                  <a:solidFill>
                    <a:srgbClr val="94A3B8"/>
                  </a:solidFill>
                  <a:latin typeface="Inter"/>
                  <a:ea typeface="Inter"/>
                  <a:cs typeface="Inter"/>
                  <a:sym typeface="Inter"/>
                </a:endParaRPr>
              </a:p>
            </p:txBody>
          </p:sp>
        </p:grpSp>
      </p:gr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